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-457200" y="-274320"/>
            <a:ext cx="13167360" cy="7315200"/>
          </a:xfrm>
          <a:prstGeom prst="rect">
            <a:avLst/>
          </a:prstGeom>
          <a:solidFill>
            <a:srgbClr val="08111F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8046720" y="-182880"/>
            <a:ext cx="4389120" cy="7223760"/>
          </a:xfrm>
          <a:prstGeom prst="rect">
            <a:avLst/>
          </a:prstGeom>
          <a:solidFill>
            <a:srgbClr val="D7FF3F">
              <a:alpha val="9000"/>
            </a:srgbClr>
          </a:solidFill>
          <a:ln>
            <a:noFill/>
          </a:ln>
        </p:spPr>
      </p:sp>
      <p:sp>
        <p:nvSpPr>
          <p:cNvPr id="4" name="Shape4"/>
          <p:cNvSpPr/>
          <p:nvPr/>
        </p:nvSpPr>
        <p:spPr>
          <a:xfrm>
            <a:off x="8543925" y="502920"/>
            <a:ext cx="3291840" cy="6035040"/>
          </a:xfrm>
          <a:prstGeom prst="roundRect">
            <a:avLst/>
          </a:prstGeom>
          <a:solidFill>
            <a:srgbClr val="37D6FF">
              <a:alpha val="7000"/>
            </a:srgbClr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594360" y="502920"/>
            <a:ext cx="1143000" cy="329184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6" name="Text6"/>
          <p:cNvSpPr txBox="1"/>
          <p:nvPr/>
        </p:nvSpPr>
        <p:spPr>
          <a:xfrm>
            <a:off x="731520" y="566928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 b="1">
                <a:solidFill>
                  <a:srgbClr val="08111F"/>
                </a:solidFill>
                <a:latin typeface="Aptos"/>
                <a:cs typeface="Aptos"/>
              </a:rPr>
              <a:t>ПРОЕКТ</a:t>
            </a:r>
            <a:endParaRPr lang="ru-RU" sz="800"/>
          </a:p>
        </p:txBody>
      </p:sp>
      <p:sp>
        <p:nvSpPr>
          <p:cNvPr id="7" name="Text7"/>
          <p:cNvSpPr txBox="1"/>
          <p:nvPr/>
        </p:nvSpPr>
        <p:spPr>
          <a:xfrm>
            <a:off x="548640" y="1234440"/>
            <a:ext cx="62179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6400" b="1">
                <a:solidFill>
                  <a:srgbClr val="FFFFFF"/>
                </a:solidFill>
                <a:latin typeface="Aptos"/>
                <a:cs typeface="Aptos"/>
              </a:rPr>
              <a:t>OX</a:t>
            </a:r>
            <a:endParaRPr lang="ru-RU" sz="6400"/>
          </a:p>
        </p:txBody>
      </p:sp>
      <p:sp>
        <p:nvSpPr>
          <p:cNvPr id="8" name="Text8"/>
          <p:cNvSpPr txBox="1"/>
          <p:nvPr/>
        </p:nvSpPr>
        <p:spPr>
          <a:xfrm>
            <a:off x="621792" y="2212848"/>
            <a:ext cx="7132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000" b="1">
                <a:solidFill>
                  <a:srgbClr val="D7FF3F"/>
                </a:solidFill>
                <a:latin typeface="Aptos"/>
                <a:cs typeface="Aptos"/>
              </a:rPr>
              <a:t>Спортивный экспресс на блокчейне</a:t>
            </a:r>
            <a:endParaRPr lang="ru-RU" sz="3000"/>
          </a:p>
        </p:txBody>
      </p:sp>
      <p:sp>
        <p:nvSpPr>
          <p:cNvPr id="9" name="Text9"/>
          <p:cNvSpPr txBox="1"/>
          <p:nvPr/>
        </p:nvSpPr>
        <p:spPr>
          <a:xfrm>
            <a:off x="658368" y="2971800"/>
            <a:ext cx="6126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>
                <a:solidFill>
                  <a:srgbClr val="C8D4E8"/>
                </a:solidFill>
                <a:latin typeface="Aptos"/>
                <a:cs typeface="Aptos"/>
              </a:rPr>
              <a:t>Суперэкспресс 15: прозрачные билеты, проверяемые результаты и автоматические выплаты в USDC.</a:t>
            </a:r>
            <a:endParaRPr lang="ru-RU" sz="1800"/>
          </a:p>
        </p:txBody>
      </p:sp>
      <p:sp>
        <p:nvSpPr>
          <p:cNvPr id="10" name="Shape10"/>
          <p:cNvSpPr/>
          <p:nvPr/>
        </p:nvSpPr>
        <p:spPr>
          <a:xfrm>
            <a:off x="-250952" y="4293235"/>
            <a:ext cx="2606040" cy="105156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1" name="Shape11"/>
          <p:cNvSpPr/>
          <p:nvPr/>
        </p:nvSpPr>
        <p:spPr>
          <a:xfrm>
            <a:off x="118745" y="4535297"/>
            <a:ext cx="73152" cy="72237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2" name="Text12"/>
          <p:cNvSpPr txBox="1"/>
          <p:nvPr/>
        </p:nvSpPr>
        <p:spPr>
          <a:xfrm>
            <a:off x="354330" y="4453255"/>
            <a:ext cx="879475" cy="384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Честно</a:t>
            </a:r>
            <a:endParaRPr lang="ru-RU" sz="1700"/>
          </a:p>
        </p:txBody>
      </p:sp>
      <p:sp>
        <p:nvSpPr>
          <p:cNvPr id="13" name="Text13"/>
          <p:cNvSpPr txBox="1"/>
          <p:nvPr/>
        </p:nvSpPr>
        <p:spPr>
          <a:xfrm>
            <a:off x="327660" y="4719320"/>
            <a:ext cx="1589405" cy="3854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Правила и выплаты фиксируются до покупки.</a:t>
            </a:r>
            <a:endParaRPr lang="ru-RU" sz="1200"/>
          </a:p>
        </p:txBody>
      </p:sp>
      <p:sp>
        <p:nvSpPr>
          <p:cNvPr id="14" name="Shape14"/>
          <p:cNvSpPr/>
          <p:nvPr/>
        </p:nvSpPr>
        <p:spPr>
          <a:xfrm>
            <a:off x="2495550" y="4293235"/>
            <a:ext cx="2606040" cy="105156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5" name="Shape15"/>
          <p:cNvSpPr/>
          <p:nvPr/>
        </p:nvSpPr>
        <p:spPr>
          <a:xfrm>
            <a:off x="2822702" y="4517517"/>
            <a:ext cx="73152" cy="722376"/>
          </a:xfrm>
          <a:prstGeom prst="roundRect">
            <a:avLst>
              <a:gd name="adj" fmla="val 44965"/>
            </a:avLst>
          </a:prstGeom>
          <a:solidFill>
            <a:srgbClr val="37D6FF"/>
          </a:solidFill>
          <a:ln>
            <a:noFill/>
          </a:ln>
        </p:spPr>
        <p:txBody>
          <a:bodyPr/>
          <a:p>
            <a:endParaRPr lang="ru-RU" altLang="en-US"/>
          </a:p>
        </p:txBody>
      </p:sp>
      <p:sp>
        <p:nvSpPr>
          <p:cNvPr id="16" name="Text16"/>
          <p:cNvSpPr txBox="1"/>
          <p:nvPr/>
        </p:nvSpPr>
        <p:spPr>
          <a:xfrm>
            <a:off x="3081655" y="4453255"/>
            <a:ext cx="1447165" cy="384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Прозрачно</a:t>
            </a:r>
            <a:endParaRPr lang="ru-RU" sz="1700"/>
          </a:p>
        </p:txBody>
      </p:sp>
      <p:sp>
        <p:nvSpPr>
          <p:cNvPr id="17" name="Text17"/>
          <p:cNvSpPr txBox="1"/>
          <p:nvPr/>
        </p:nvSpPr>
        <p:spPr>
          <a:xfrm>
            <a:off x="3054350" y="4836160"/>
            <a:ext cx="2012315" cy="2679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Блокчейн, журнал аудита и проверяемые выплаты.</a:t>
            </a:r>
            <a:endParaRPr lang="ru-RU" sz="1200"/>
          </a:p>
        </p:txBody>
      </p:sp>
      <p:sp>
        <p:nvSpPr>
          <p:cNvPr id="18" name="Shape18"/>
          <p:cNvSpPr/>
          <p:nvPr/>
        </p:nvSpPr>
        <p:spPr>
          <a:xfrm>
            <a:off x="5242052" y="4293235"/>
            <a:ext cx="2606040" cy="105156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9" name="Shape19"/>
          <p:cNvSpPr/>
          <p:nvPr/>
        </p:nvSpPr>
        <p:spPr>
          <a:xfrm>
            <a:off x="5448554" y="4517517"/>
            <a:ext cx="73152" cy="72237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20" name="Text20"/>
          <p:cNvSpPr txBox="1"/>
          <p:nvPr/>
        </p:nvSpPr>
        <p:spPr>
          <a:xfrm>
            <a:off x="5765800" y="4453255"/>
            <a:ext cx="1512570" cy="384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Мгновенно</a:t>
            </a:r>
            <a:endParaRPr lang="ru-RU" sz="1700"/>
          </a:p>
        </p:txBody>
      </p:sp>
      <p:sp>
        <p:nvSpPr>
          <p:cNvPr id="21" name="Text21"/>
          <p:cNvSpPr txBox="1"/>
          <p:nvPr/>
        </p:nvSpPr>
        <p:spPr>
          <a:xfrm>
            <a:off x="5630799" y="4796663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Автоматическая выплата без покупки газа пользователем.</a:t>
            </a:r>
            <a:endParaRPr lang="ru-RU" sz="1200"/>
          </a:p>
        </p:txBody>
      </p:sp>
      <p:sp>
        <p:nvSpPr>
          <p:cNvPr id="22" name="Text22"/>
          <p:cNvSpPr txBox="1"/>
          <p:nvPr/>
        </p:nvSpPr>
        <p:spPr>
          <a:xfrm>
            <a:off x="8732520" y="12344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5200" b="1">
                <a:solidFill>
                  <a:srgbClr val="08111F"/>
                </a:solidFill>
                <a:latin typeface="Aptos"/>
                <a:cs typeface="Aptos"/>
              </a:rPr>
              <a:t>15</a:t>
            </a:r>
            <a:endParaRPr lang="ru-RU" sz="5200"/>
          </a:p>
        </p:txBody>
      </p:sp>
      <p:sp>
        <p:nvSpPr>
          <p:cNvPr id="23" name="Text23"/>
          <p:cNvSpPr txBox="1"/>
          <p:nvPr/>
        </p:nvSpPr>
        <p:spPr>
          <a:xfrm>
            <a:off x="8641080" y="205740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событий в стартовом продукте</a:t>
            </a:r>
            <a:endParaRPr lang="ru-RU" sz="1700"/>
          </a:p>
        </p:txBody>
      </p:sp>
      <p:sp>
        <p:nvSpPr>
          <p:cNvPr id="24" name="Shape24"/>
          <p:cNvSpPr/>
          <p:nvPr/>
        </p:nvSpPr>
        <p:spPr>
          <a:xfrm>
            <a:off x="8915400" y="2971800"/>
            <a:ext cx="2331720" cy="566928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</a:ln>
        </p:spPr>
      </p:sp>
      <p:sp>
        <p:nvSpPr>
          <p:cNvPr id="25" name="Text25"/>
          <p:cNvSpPr txBox="1"/>
          <p:nvPr/>
        </p:nvSpPr>
        <p:spPr>
          <a:xfrm>
            <a:off x="9052560" y="312724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Base + USDC</a:t>
            </a:r>
            <a:endParaRPr lang="ru-RU" sz="1200"/>
          </a:p>
        </p:txBody>
      </p:sp>
      <p:sp>
        <p:nvSpPr>
          <p:cNvPr id="26" name="Shape26"/>
          <p:cNvSpPr/>
          <p:nvPr/>
        </p:nvSpPr>
        <p:spPr>
          <a:xfrm>
            <a:off x="8915400" y="3675888"/>
            <a:ext cx="2331720" cy="566928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</a:ln>
        </p:spPr>
      </p:sp>
      <p:sp>
        <p:nvSpPr>
          <p:cNvPr id="27" name="Text27"/>
          <p:cNvSpPr txBox="1"/>
          <p:nvPr/>
        </p:nvSpPr>
        <p:spPr>
          <a:xfrm>
            <a:off x="9052560" y="383133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Merkle-выплаты</a:t>
            </a:r>
            <a:endParaRPr lang="ru-RU" sz="1200"/>
          </a:p>
        </p:txBody>
      </p:sp>
      <p:sp>
        <p:nvSpPr>
          <p:cNvPr id="28" name="Shape28"/>
          <p:cNvSpPr/>
          <p:nvPr/>
        </p:nvSpPr>
        <p:spPr>
          <a:xfrm>
            <a:off x="8915400" y="4379976"/>
            <a:ext cx="2331720" cy="566928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</a:ln>
        </p:spPr>
      </p:sp>
      <p:sp>
        <p:nvSpPr>
          <p:cNvPr id="29" name="Text29"/>
          <p:cNvSpPr txBox="1"/>
          <p:nvPr/>
        </p:nvSpPr>
        <p:spPr>
          <a:xfrm>
            <a:off x="9052560" y="4535424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Аудит перед запуском</a:t>
            </a:r>
            <a:endParaRPr lang="ru-RU" sz="1200"/>
          </a:p>
        </p:txBody>
      </p:sp>
      <p:sp>
        <p:nvSpPr>
          <p:cNvPr id="30" name="Text30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31" name="Text3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1</a:t>
            </a:r>
            <a:endParaRPr lang="ru-RU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685800"/>
            <a:ext cx="7498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FFFFFF"/>
                </a:solidFill>
                <a:latin typeface="Aptos"/>
                <a:cs typeface="Aptos"/>
              </a:rPr>
              <a:t>Зачем нужен OX</a:t>
            </a:r>
            <a:endParaRPr lang="ru-RU" sz="3400"/>
          </a:p>
        </p:txBody>
      </p:sp>
      <p:sp>
        <p:nvSpPr>
          <p:cNvPr id="3" name="Text3"/>
          <p:cNvSpPr txBox="1"/>
          <p:nvPr/>
        </p:nvSpPr>
        <p:spPr>
          <a:xfrm>
            <a:off x="621792" y="1298448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B9C3D6"/>
                </a:solidFill>
                <a:latin typeface="Aptos"/>
                <a:cs typeface="Aptos"/>
              </a:rPr>
              <a:t>Проблема рынка не в отсутствии ставок, а в доверии к правилам, расчету и выплатам.</a:t>
            </a:r>
            <a:endParaRPr lang="ru-RU" sz="1600"/>
          </a:p>
        </p:txBody>
      </p:sp>
      <p:sp>
        <p:nvSpPr>
          <p:cNvPr id="4" name="Shape4"/>
          <p:cNvSpPr/>
          <p:nvPr/>
        </p:nvSpPr>
        <p:spPr>
          <a:xfrm>
            <a:off x="685800" y="1965960"/>
            <a:ext cx="3291840" cy="123444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5" name="Shape5"/>
          <p:cNvSpPr/>
          <p:nvPr/>
        </p:nvSpPr>
        <p:spPr>
          <a:xfrm>
            <a:off x="850392" y="2130552"/>
            <a:ext cx="73152" cy="90525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6" name="Text6"/>
          <p:cNvSpPr txBox="1"/>
          <p:nvPr/>
        </p:nvSpPr>
        <p:spPr>
          <a:xfrm>
            <a:off x="1033272" y="2167128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Непрозрачные правила</a:t>
            </a:r>
            <a:endParaRPr lang="ru-RU" sz="1700"/>
          </a:p>
        </p:txBody>
      </p:sp>
      <p:sp>
        <p:nvSpPr>
          <p:cNvPr id="7" name="Text7"/>
          <p:cNvSpPr txBox="1"/>
          <p:nvPr/>
        </p:nvSpPr>
        <p:spPr>
          <a:xfrm>
            <a:off x="1033272" y="262432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Пользователь не всегда понимает, где зафиксированы условия тиража и как считается выплата.</a:t>
            </a:r>
            <a:endParaRPr lang="ru-RU" sz="1200"/>
          </a:p>
        </p:txBody>
      </p:sp>
      <p:sp>
        <p:nvSpPr>
          <p:cNvPr id="8" name="Shape8"/>
          <p:cNvSpPr/>
          <p:nvPr/>
        </p:nvSpPr>
        <p:spPr>
          <a:xfrm>
            <a:off x="4434840" y="1965960"/>
            <a:ext cx="3291840" cy="123444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9" name="Shape9"/>
          <p:cNvSpPr/>
          <p:nvPr/>
        </p:nvSpPr>
        <p:spPr>
          <a:xfrm>
            <a:off x="4599432" y="2130552"/>
            <a:ext cx="73152" cy="90525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4782312" y="2167128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Трение выплат</a:t>
            </a:r>
            <a:endParaRPr lang="ru-RU" sz="1700"/>
          </a:p>
        </p:txBody>
      </p:sp>
      <p:sp>
        <p:nvSpPr>
          <p:cNvPr id="11" name="Text11"/>
          <p:cNvSpPr txBox="1"/>
          <p:nvPr/>
        </p:nvSpPr>
        <p:spPr>
          <a:xfrm>
            <a:off x="4782312" y="262432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Выигрыш может зависеть от ручных процедур, задержек, газа или поддержки.</a:t>
            </a:r>
            <a:endParaRPr lang="ru-RU" sz="1200"/>
          </a:p>
        </p:txBody>
      </p:sp>
      <p:sp>
        <p:nvSpPr>
          <p:cNvPr id="12" name="Shape12"/>
          <p:cNvSpPr/>
          <p:nvPr/>
        </p:nvSpPr>
        <p:spPr>
          <a:xfrm>
            <a:off x="8183880" y="1965960"/>
            <a:ext cx="3291840" cy="123444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3" name="Shape13"/>
          <p:cNvSpPr/>
          <p:nvPr/>
        </p:nvSpPr>
        <p:spPr>
          <a:xfrm>
            <a:off x="8348472" y="2130552"/>
            <a:ext cx="73152" cy="90525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14" name="Text14"/>
          <p:cNvSpPr txBox="1"/>
          <p:nvPr/>
        </p:nvSpPr>
        <p:spPr>
          <a:xfrm>
            <a:off x="8531352" y="2167128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Слабая проверяемость</a:t>
            </a:r>
            <a:endParaRPr lang="ru-RU" sz="1700"/>
          </a:p>
        </p:txBody>
      </p:sp>
      <p:sp>
        <p:nvSpPr>
          <p:cNvPr id="15" name="Text15"/>
          <p:cNvSpPr txBox="1"/>
          <p:nvPr/>
        </p:nvSpPr>
        <p:spPr>
          <a:xfrm>
            <a:off x="8531352" y="262432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Без открытого следа сложно доказать корректность результатов и распределения.</a:t>
            </a:r>
            <a:endParaRPr lang="ru-RU" sz="1200"/>
          </a:p>
        </p:txBody>
      </p:sp>
      <p:sp>
        <p:nvSpPr>
          <p:cNvPr id="16" name="Shape16"/>
          <p:cNvSpPr/>
          <p:nvPr/>
        </p:nvSpPr>
        <p:spPr>
          <a:xfrm>
            <a:off x="685800" y="3840480"/>
            <a:ext cx="10789920" cy="1554480"/>
          </a:xfrm>
          <a:prstGeom prst="roundRect">
            <a:avLst/>
          </a:prstGeom>
          <a:solidFill>
            <a:srgbClr val="101C31"/>
          </a:solidFill>
          <a:ln w="18000">
            <a:solidFill>
              <a:srgbClr val="D7FF3F"/>
            </a:solidFill>
          </a:ln>
        </p:spPr>
      </p:sp>
      <p:sp>
        <p:nvSpPr>
          <p:cNvPr id="17" name="Text17"/>
          <p:cNvSpPr txBox="1"/>
          <p:nvPr/>
        </p:nvSpPr>
        <p:spPr>
          <a:xfrm>
            <a:off x="1055370" y="3973195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 b="1">
                <a:solidFill>
                  <a:srgbClr val="D7FF3F"/>
                </a:solidFill>
                <a:latin typeface="Aptos"/>
                <a:cs typeface="Aptos"/>
              </a:rPr>
              <a:t>Ответ OX</a:t>
            </a:r>
            <a:endParaRPr lang="ru-RU" sz="2200"/>
          </a:p>
        </p:txBody>
      </p:sp>
      <p:sp>
        <p:nvSpPr>
          <p:cNvPr id="18" name="Text18"/>
          <p:cNvSpPr txBox="1"/>
          <p:nvPr/>
        </p:nvSpPr>
        <p:spPr>
          <a:xfrm>
            <a:off x="1143000" y="4377055"/>
            <a:ext cx="9784080" cy="8261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>
                <a:solidFill>
                  <a:srgbClr val="FFFFFF"/>
                </a:solidFill>
                <a:latin typeface="Aptos"/>
                <a:cs typeface="Aptos"/>
              </a:rPr>
              <a:t>Один понятный продукт: пользователь покупает билет, видит фиксированные правила, получает проверяемый результат и автоматическую выплату в USDC., истории розыгрышей тиражей и победителей джекпота остается в блокчейне навсегда</a:t>
            </a:r>
            <a:endParaRPr lang="ru-RU" sz="1800"/>
          </a:p>
        </p:txBody>
      </p:sp>
      <p:sp>
        <p:nvSpPr>
          <p:cNvPr id="19" name="Shape19"/>
          <p:cNvSpPr/>
          <p:nvPr/>
        </p:nvSpPr>
        <p:spPr>
          <a:xfrm>
            <a:off x="1828800" y="5715000"/>
            <a:ext cx="8503920" cy="164592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20" name="Text20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21" name="Text2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2</a:t>
            </a:r>
            <a:endParaRPr lang="ru-RU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64008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200" b="1">
                <a:solidFill>
                  <a:srgbClr val="FFFFFF"/>
                </a:solidFill>
                <a:latin typeface="Aptos"/>
                <a:cs typeface="Aptos"/>
              </a:rPr>
              <a:t>Стартовый продукт: Суперэкспресс 15</a:t>
            </a:r>
            <a:endParaRPr lang="ru-RU" sz="3200"/>
          </a:p>
        </p:txBody>
      </p:sp>
      <p:sp>
        <p:nvSpPr>
          <p:cNvPr id="3" name="Text3"/>
          <p:cNvSpPr txBox="1"/>
          <p:nvPr/>
        </p:nvSpPr>
        <p:spPr>
          <a:xfrm>
            <a:off x="621792" y="123444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B9C3D6"/>
                </a:solidFill>
                <a:latin typeface="Aptos"/>
                <a:cs typeface="Aptos"/>
              </a:rPr>
              <a:t>Простая спортивная механика, но с проверяемой экономикой и защитой от манипуляций.</a:t>
            </a:r>
            <a:endParaRPr lang="ru-RU" sz="1600"/>
          </a:p>
        </p:txBody>
      </p:sp>
      <p:sp>
        <p:nvSpPr>
          <p:cNvPr id="4" name="Shape4"/>
          <p:cNvSpPr/>
          <p:nvPr/>
        </p:nvSpPr>
        <p:spPr>
          <a:xfrm>
            <a:off x="777240" y="1874520"/>
            <a:ext cx="2834640" cy="3566160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960120" y="214884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5600" b="1">
                <a:solidFill>
                  <a:srgbClr val="08111F"/>
                </a:solidFill>
                <a:latin typeface="Aptos"/>
                <a:cs typeface="Aptos"/>
              </a:rPr>
              <a:t>15</a:t>
            </a:r>
            <a:endParaRPr lang="ru-RU" sz="5600"/>
          </a:p>
        </p:txBody>
      </p:sp>
      <p:sp>
        <p:nvSpPr>
          <p:cNvPr id="6" name="Text6"/>
          <p:cNvSpPr txBox="1"/>
          <p:nvPr/>
        </p:nvSpPr>
        <p:spPr>
          <a:xfrm>
            <a:off x="960120" y="294436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 b="1">
                <a:solidFill>
                  <a:srgbClr val="08111F"/>
                </a:solidFill>
                <a:latin typeface="Aptos"/>
                <a:cs typeface="Aptos"/>
              </a:rPr>
              <a:t>событий</a:t>
            </a:r>
            <a:endParaRPr lang="ru-RU" sz="2200"/>
          </a:p>
        </p:txBody>
      </p:sp>
      <p:sp>
        <p:nvSpPr>
          <p:cNvPr id="7" name="Text7"/>
          <p:cNvSpPr txBox="1"/>
          <p:nvPr/>
        </p:nvSpPr>
        <p:spPr>
          <a:xfrm>
            <a:off x="1005840" y="370332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>
                <a:solidFill>
                  <a:srgbClr val="08111F"/>
                </a:solidFill>
                <a:latin typeface="Aptos"/>
                <a:cs typeface="Aptos"/>
              </a:rPr>
              <a:t>В каждом событии пользователь выбирает 1 / X / 2.</a:t>
            </a:r>
            <a:endParaRPr lang="ru-RU" sz="1700"/>
          </a:p>
        </p:txBody>
      </p:sp>
      <p:sp>
        <p:nvSpPr>
          <p:cNvPr id="8" name="Shape8"/>
          <p:cNvSpPr/>
          <p:nvPr/>
        </p:nvSpPr>
        <p:spPr>
          <a:xfrm>
            <a:off x="4069080" y="1874520"/>
            <a:ext cx="3337560" cy="11430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9" name="Shape9"/>
          <p:cNvSpPr/>
          <p:nvPr/>
        </p:nvSpPr>
        <p:spPr>
          <a:xfrm>
            <a:off x="4233672" y="2039112"/>
            <a:ext cx="73152" cy="81381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4416552" y="2075688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14 348 907</a:t>
            </a:r>
            <a:endParaRPr lang="ru-RU" sz="1700"/>
          </a:p>
        </p:txBody>
      </p:sp>
      <p:sp>
        <p:nvSpPr>
          <p:cNvPr id="11" name="Text11"/>
          <p:cNvSpPr txBox="1"/>
          <p:nvPr/>
        </p:nvSpPr>
        <p:spPr>
          <a:xfrm>
            <a:off x="4416552" y="253288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Всего возможных простых комбинаций: 3^15.</a:t>
            </a:r>
            <a:endParaRPr lang="ru-RU" sz="1200"/>
          </a:p>
        </p:txBody>
      </p:sp>
      <p:sp>
        <p:nvSpPr>
          <p:cNvPr id="12" name="Shape12"/>
          <p:cNvSpPr/>
          <p:nvPr/>
        </p:nvSpPr>
        <p:spPr>
          <a:xfrm>
            <a:off x="7818120" y="1874520"/>
            <a:ext cx="3337560" cy="11430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3" name="Shape13"/>
          <p:cNvSpPr/>
          <p:nvPr/>
        </p:nvSpPr>
        <p:spPr>
          <a:xfrm>
            <a:off x="7982712" y="2039112"/>
            <a:ext cx="73152" cy="81381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14" name="Text14"/>
          <p:cNvSpPr txBox="1"/>
          <p:nvPr/>
        </p:nvSpPr>
        <p:spPr>
          <a:xfrm>
            <a:off x="8165592" y="2075688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9/15 - 14/15</a:t>
            </a:r>
            <a:endParaRPr lang="ru-RU" sz="1700"/>
          </a:p>
        </p:txBody>
      </p:sp>
      <p:sp>
        <p:nvSpPr>
          <p:cNvPr id="15" name="Text15"/>
          <p:cNvSpPr txBox="1"/>
          <p:nvPr/>
        </p:nvSpPr>
        <p:spPr>
          <a:xfrm>
            <a:off x="8165592" y="253288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Обычные призовые уровни из 80% призового фонда.</a:t>
            </a:r>
            <a:endParaRPr lang="ru-RU" sz="1200"/>
          </a:p>
        </p:txBody>
      </p:sp>
      <p:sp>
        <p:nvSpPr>
          <p:cNvPr id="16" name="Shape16"/>
          <p:cNvSpPr/>
          <p:nvPr/>
        </p:nvSpPr>
        <p:spPr>
          <a:xfrm>
            <a:off x="4069080" y="3429000"/>
            <a:ext cx="3337560" cy="11430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7" name="Shape17"/>
          <p:cNvSpPr/>
          <p:nvPr/>
        </p:nvSpPr>
        <p:spPr>
          <a:xfrm>
            <a:off x="4233672" y="3593592"/>
            <a:ext cx="73152" cy="81381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8" name="Text18"/>
          <p:cNvSpPr txBox="1"/>
          <p:nvPr/>
        </p:nvSpPr>
        <p:spPr>
          <a:xfrm>
            <a:off x="4416552" y="3630168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15/15</a:t>
            </a:r>
            <a:endParaRPr lang="ru-RU" sz="1700"/>
          </a:p>
        </p:txBody>
      </p:sp>
      <p:sp>
        <p:nvSpPr>
          <p:cNvPr id="19" name="Text19"/>
          <p:cNvSpPr txBox="1"/>
          <p:nvPr/>
        </p:nvSpPr>
        <p:spPr>
          <a:xfrm>
            <a:off x="4416425" y="3883660"/>
            <a:ext cx="2834640" cy="569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Джекпотный уровень с заранее зафиксированным активным джекпотом.</a:t>
            </a:r>
            <a:endParaRPr lang="ru-RU" sz="1200"/>
          </a:p>
        </p:txBody>
      </p:sp>
      <p:sp>
        <p:nvSpPr>
          <p:cNvPr id="20" name="Shape20"/>
          <p:cNvSpPr/>
          <p:nvPr/>
        </p:nvSpPr>
        <p:spPr>
          <a:xfrm>
            <a:off x="7818120" y="3429000"/>
            <a:ext cx="3337560" cy="11430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21" name="Shape21"/>
          <p:cNvSpPr/>
          <p:nvPr/>
        </p:nvSpPr>
        <p:spPr>
          <a:xfrm>
            <a:off x="7982712" y="3593592"/>
            <a:ext cx="73152" cy="81381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22" name="Text22"/>
          <p:cNvSpPr txBox="1"/>
          <p:nvPr/>
        </p:nvSpPr>
        <p:spPr>
          <a:xfrm>
            <a:off x="8165592" y="3630168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Системные ставки</a:t>
            </a:r>
            <a:endParaRPr lang="ru-RU" sz="1700"/>
          </a:p>
        </p:txBody>
      </p:sp>
      <p:sp>
        <p:nvSpPr>
          <p:cNvPr id="23" name="Text23"/>
          <p:cNvSpPr txBox="1"/>
          <p:nvPr/>
        </p:nvSpPr>
        <p:spPr>
          <a:xfrm>
            <a:off x="8165465" y="3883025"/>
            <a:ext cx="2834640" cy="570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Пользователь может покрывать несколько комбинаций через конструктор билета.</a:t>
            </a:r>
            <a:endParaRPr lang="ru-RU" sz="1200"/>
          </a:p>
        </p:txBody>
      </p:sp>
      <p:sp>
        <p:nvSpPr>
          <p:cNvPr id="24" name="Text24"/>
          <p:cNvSpPr txBox="1"/>
          <p:nvPr/>
        </p:nvSpPr>
        <p:spPr>
          <a:xfrm>
            <a:off x="4114800" y="5074920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FFFFFF"/>
                </a:solidFill>
                <a:latin typeface="Aptos"/>
                <a:cs typeface="Aptos"/>
              </a:rPr>
              <a:t>MVP начинается с футбола и одного понятного формата, чтобы не перегружать первый запуск.</a:t>
            </a:r>
            <a:endParaRPr lang="ru-RU" sz="1600"/>
          </a:p>
        </p:txBody>
      </p:sp>
      <p:sp>
        <p:nvSpPr>
          <p:cNvPr id="25" name="Text25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26" name="Text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3</a:t>
            </a:r>
            <a:endParaRPr lang="ru-RU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64008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200" b="1">
                <a:solidFill>
                  <a:srgbClr val="FFFFFF"/>
                </a:solidFill>
                <a:latin typeface="Aptos"/>
                <a:cs typeface="Aptos"/>
              </a:rPr>
              <a:t>Пользовательский сценарий</a:t>
            </a:r>
            <a:endParaRPr lang="ru-RU" sz="3200"/>
          </a:p>
        </p:txBody>
      </p:sp>
      <p:sp>
        <p:nvSpPr>
          <p:cNvPr id="3" name="Text3"/>
          <p:cNvSpPr txBox="1"/>
          <p:nvPr/>
        </p:nvSpPr>
        <p:spPr>
          <a:xfrm>
            <a:off x="621792" y="123444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B9C3D6"/>
                </a:solidFill>
                <a:latin typeface="Aptos"/>
                <a:cs typeface="Aptos"/>
              </a:rPr>
              <a:t>OX должен ощущаться как простой продукт, даже если внутри работает блокчейн-архитектура.</a:t>
            </a:r>
            <a:endParaRPr lang="ru-RU" sz="1600"/>
          </a:p>
        </p:txBody>
      </p:sp>
      <p:sp>
        <p:nvSpPr>
          <p:cNvPr id="4" name="Shape4"/>
          <p:cNvSpPr/>
          <p:nvPr/>
        </p:nvSpPr>
        <p:spPr>
          <a:xfrm>
            <a:off x="731520" y="2057400"/>
            <a:ext cx="1828800" cy="914400"/>
          </a:xfrm>
          <a:prstGeom prst="roundRect">
            <a:avLst/>
          </a:prstGeom>
          <a:solidFill>
            <a:srgbClr val="13213A"/>
          </a:solidFill>
          <a:ln w="12000">
            <a:solidFill>
              <a:srgbClr val="37D6FF"/>
            </a:solidFill>
          </a:ln>
        </p:spPr>
      </p:sp>
      <p:sp>
        <p:nvSpPr>
          <p:cNvPr id="5" name="Text5"/>
          <p:cNvSpPr txBox="1"/>
          <p:nvPr/>
        </p:nvSpPr>
        <p:spPr>
          <a:xfrm>
            <a:off x="960120" y="23042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1. Выбор</a:t>
            </a:r>
            <a:endParaRPr lang="ru-RU" sz="1500"/>
          </a:p>
        </p:txBody>
      </p:sp>
      <p:sp>
        <p:nvSpPr>
          <p:cNvPr id="6" name="Shape6"/>
          <p:cNvSpPr/>
          <p:nvPr/>
        </p:nvSpPr>
        <p:spPr>
          <a:xfrm>
            <a:off x="2880360" y="2057400"/>
            <a:ext cx="1828800" cy="914400"/>
          </a:xfrm>
          <a:prstGeom prst="roundRect">
            <a:avLst/>
          </a:prstGeom>
          <a:solidFill>
            <a:srgbClr val="13213A"/>
          </a:solidFill>
          <a:ln w="12000">
            <a:solidFill>
              <a:srgbClr val="37D6FF"/>
            </a:solidFill>
          </a:ln>
        </p:spPr>
      </p:sp>
      <p:sp>
        <p:nvSpPr>
          <p:cNvPr id="7" name="Text7"/>
          <p:cNvSpPr txBox="1"/>
          <p:nvPr/>
        </p:nvSpPr>
        <p:spPr>
          <a:xfrm>
            <a:off x="3090672" y="230428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2. Билет</a:t>
            </a:r>
            <a:endParaRPr lang="ru-RU" sz="1500"/>
          </a:p>
        </p:txBody>
      </p:sp>
      <p:sp>
        <p:nvSpPr>
          <p:cNvPr id="8" name="Shape8"/>
          <p:cNvSpPr/>
          <p:nvPr/>
        </p:nvSpPr>
        <p:spPr>
          <a:xfrm>
            <a:off x="5029200" y="2057400"/>
            <a:ext cx="1828800" cy="914400"/>
          </a:xfrm>
          <a:prstGeom prst="roundRect">
            <a:avLst/>
          </a:prstGeom>
          <a:solidFill>
            <a:srgbClr val="13213A"/>
          </a:solidFill>
          <a:ln w="12000">
            <a:solidFill>
              <a:srgbClr val="37D6FF"/>
            </a:solidFill>
          </a:ln>
        </p:spPr>
      </p:sp>
      <p:sp>
        <p:nvSpPr>
          <p:cNvPr id="9" name="Text9"/>
          <p:cNvSpPr txBox="1"/>
          <p:nvPr/>
        </p:nvSpPr>
        <p:spPr>
          <a:xfrm>
            <a:off x="5266944" y="230428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3. Тираж</a:t>
            </a:r>
            <a:endParaRPr lang="ru-RU" sz="1500"/>
          </a:p>
        </p:txBody>
      </p:sp>
      <p:sp>
        <p:nvSpPr>
          <p:cNvPr id="10" name="Shape10"/>
          <p:cNvSpPr/>
          <p:nvPr/>
        </p:nvSpPr>
        <p:spPr>
          <a:xfrm>
            <a:off x="7178040" y="2057400"/>
            <a:ext cx="1828800" cy="914400"/>
          </a:xfrm>
          <a:prstGeom prst="roundRect">
            <a:avLst/>
          </a:prstGeom>
          <a:solidFill>
            <a:srgbClr val="13213A"/>
          </a:solidFill>
          <a:ln w="12000">
            <a:solidFill>
              <a:srgbClr val="37D6FF"/>
            </a:solidFill>
          </a:ln>
        </p:spPr>
      </p:sp>
      <p:sp>
        <p:nvSpPr>
          <p:cNvPr id="11" name="Text11"/>
          <p:cNvSpPr txBox="1"/>
          <p:nvPr/>
        </p:nvSpPr>
        <p:spPr>
          <a:xfrm>
            <a:off x="7424928" y="2304288"/>
            <a:ext cx="129844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4. Расчет</a:t>
            </a:r>
            <a:endParaRPr lang="ru-RU" sz="1500"/>
          </a:p>
        </p:txBody>
      </p:sp>
      <p:sp>
        <p:nvSpPr>
          <p:cNvPr id="12" name="Shape12"/>
          <p:cNvSpPr/>
          <p:nvPr/>
        </p:nvSpPr>
        <p:spPr>
          <a:xfrm>
            <a:off x="9326880" y="2057400"/>
            <a:ext cx="1828800" cy="914400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9555480" y="23042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08111F"/>
                </a:solidFill>
                <a:latin typeface="Aptos"/>
                <a:cs typeface="Aptos"/>
              </a:rPr>
              <a:t>5. Выплата</a:t>
            </a:r>
            <a:endParaRPr lang="ru-RU" sz="1500"/>
          </a:p>
        </p:txBody>
      </p:sp>
      <p:sp>
        <p:nvSpPr>
          <p:cNvPr id="14" name="Shape14"/>
          <p:cNvSpPr/>
          <p:nvPr/>
        </p:nvSpPr>
        <p:spPr>
          <a:xfrm>
            <a:off x="2606040" y="2468880"/>
            <a:ext cx="228600" cy="91440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5" name="Shape15"/>
          <p:cNvSpPr/>
          <p:nvPr/>
        </p:nvSpPr>
        <p:spPr>
          <a:xfrm>
            <a:off x="4754880" y="2468880"/>
            <a:ext cx="228600" cy="91440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6" name="Shape16"/>
          <p:cNvSpPr/>
          <p:nvPr/>
        </p:nvSpPr>
        <p:spPr>
          <a:xfrm>
            <a:off x="6903720" y="2468880"/>
            <a:ext cx="228600" cy="91440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7" name="Shape17"/>
          <p:cNvSpPr/>
          <p:nvPr/>
        </p:nvSpPr>
        <p:spPr>
          <a:xfrm>
            <a:off x="9052560" y="2468880"/>
            <a:ext cx="228600" cy="91440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8" name="Shape18"/>
          <p:cNvSpPr/>
          <p:nvPr/>
        </p:nvSpPr>
        <p:spPr>
          <a:xfrm>
            <a:off x="731520" y="3703320"/>
            <a:ext cx="1828800" cy="11430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9" name="Shape19"/>
          <p:cNvSpPr/>
          <p:nvPr/>
        </p:nvSpPr>
        <p:spPr>
          <a:xfrm>
            <a:off x="896112" y="3867912"/>
            <a:ext cx="73152" cy="81381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20" name="Text20"/>
          <p:cNvSpPr txBox="1"/>
          <p:nvPr/>
        </p:nvSpPr>
        <p:spPr>
          <a:xfrm>
            <a:off x="1078992" y="390448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1/X/2</a:t>
            </a:r>
            <a:endParaRPr lang="ru-RU" sz="1700"/>
          </a:p>
        </p:txBody>
      </p:sp>
      <p:sp>
        <p:nvSpPr>
          <p:cNvPr id="21" name="Text21"/>
          <p:cNvSpPr txBox="1"/>
          <p:nvPr/>
        </p:nvSpPr>
        <p:spPr>
          <a:xfrm>
            <a:off x="1078992" y="4361688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15 спортивных событий.</a:t>
            </a:r>
            <a:endParaRPr lang="ru-RU" sz="1200"/>
          </a:p>
        </p:txBody>
      </p:sp>
      <p:sp>
        <p:nvSpPr>
          <p:cNvPr id="22" name="Shape22"/>
          <p:cNvSpPr/>
          <p:nvPr/>
        </p:nvSpPr>
        <p:spPr>
          <a:xfrm>
            <a:off x="2880360" y="3703320"/>
            <a:ext cx="1828800" cy="11430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23" name="Shape23"/>
          <p:cNvSpPr/>
          <p:nvPr/>
        </p:nvSpPr>
        <p:spPr>
          <a:xfrm>
            <a:off x="3044952" y="3867912"/>
            <a:ext cx="73152" cy="81381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24" name="Text24"/>
          <p:cNvSpPr txBox="1"/>
          <p:nvPr/>
        </p:nvSpPr>
        <p:spPr>
          <a:xfrm>
            <a:off x="3227832" y="390448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USDC</a:t>
            </a:r>
            <a:endParaRPr lang="ru-RU" sz="1700"/>
          </a:p>
        </p:txBody>
      </p:sp>
      <p:sp>
        <p:nvSpPr>
          <p:cNvPr id="25" name="Text25"/>
          <p:cNvSpPr txBox="1"/>
          <p:nvPr/>
        </p:nvSpPr>
        <p:spPr>
          <a:xfrm>
            <a:off x="3227832" y="4361688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Покупка через кошелек.</a:t>
            </a:r>
            <a:endParaRPr lang="ru-RU" sz="1200"/>
          </a:p>
        </p:txBody>
      </p:sp>
      <p:sp>
        <p:nvSpPr>
          <p:cNvPr id="26" name="Shape26"/>
          <p:cNvSpPr/>
          <p:nvPr/>
        </p:nvSpPr>
        <p:spPr>
          <a:xfrm>
            <a:off x="5029200" y="3703320"/>
            <a:ext cx="1828800" cy="11430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27" name="Shape27"/>
          <p:cNvSpPr/>
          <p:nvPr/>
        </p:nvSpPr>
        <p:spPr>
          <a:xfrm>
            <a:off x="5193792" y="3867912"/>
            <a:ext cx="73152" cy="81381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28" name="Text28"/>
          <p:cNvSpPr txBox="1"/>
          <p:nvPr/>
        </p:nvSpPr>
        <p:spPr>
          <a:xfrm>
            <a:off x="5376672" y="390448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Оракул</a:t>
            </a:r>
            <a:endParaRPr lang="ru-RU" sz="1700"/>
          </a:p>
        </p:txBody>
      </p:sp>
      <p:sp>
        <p:nvSpPr>
          <p:cNvPr id="29" name="Text29"/>
          <p:cNvSpPr txBox="1"/>
          <p:nvPr/>
        </p:nvSpPr>
        <p:spPr>
          <a:xfrm>
            <a:off x="5376672" y="4361688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3 источника и ручной резерв.</a:t>
            </a:r>
            <a:endParaRPr lang="ru-RU" sz="1200"/>
          </a:p>
        </p:txBody>
      </p:sp>
      <p:sp>
        <p:nvSpPr>
          <p:cNvPr id="30" name="Shape30"/>
          <p:cNvSpPr/>
          <p:nvPr/>
        </p:nvSpPr>
        <p:spPr>
          <a:xfrm>
            <a:off x="7178040" y="3703320"/>
            <a:ext cx="1828800" cy="11430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31" name="Shape31"/>
          <p:cNvSpPr/>
          <p:nvPr/>
        </p:nvSpPr>
        <p:spPr>
          <a:xfrm>
            <a:off x="7342632" y="3867912"/>
            <a:ext cx="73152" cy="81381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32" name="Text32"/>
          <p:cNvSpPr txBox="1"/>
          <p:nvPr/>
        </p:nvSpPr>
        <p:spPr>
          <a:xfrm>
            <a:off x="7525512" y="390448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Merkle</a:t>
            </a:r>
            <a:endParaRPr lang="ru-RU" sz="1700"/>
          </a:p>
        </p:txBody>
      </p:sp>
      <p:sp>
        <p:nvSpPr>
          <p:cNvPr id="33" name="Text33"/>
          <p:cNvSpPr txBox="1"/>
          <p:nvPr/>
        </p:nvSpPr>
        <p:spPr>
          <a:xfrm>
            <a:off x="7525512" y="4361688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Проверяемый список выплат.</a:t>
            </a:r>
            <a:endParaRPr lang="ru-RU" sz="1200"/>
          </a:p>
        </p:txBody>
      </p:sp>
      <p:sp>
        <p:nvSpPr>
          <p:cNvPr id="34" name="Shape34"/>
          <p:cNvSpPr/>
          <p:nvPr/>
        </p:nvSpPr>
        <p:spPr>
          <a:xfrm>
            <a:off x="9326880" y="3703320"/>
            <a:ext cx="1828800" cy="11430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35" name="Shape35"/>
          <p:cNvSpPr/>
          <p:nvPr/>
        </p:nvSpPr>
        <p:spPr>
          <a:xfrm>
            <a:off x="9491472" y="3867912"/>
            <a:ext cx="73152" cy="81381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36" name="Text36"/>
          <p:cNvSpPr txBox="1"/>
          <p:nvPr/>
        </p:nvSpPr>
        <p:spPr>
          <a:xfrm>
            <a:off x="9674352" y="390448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Авто</a:t>
            </a:r>
            <a:endParaRPr lang="ru-RU" sz="1700"/>
          </a:p>
        </p:txBody>
      </p:sp>
      <p:sp>
        <p:nvSpPr>
          <p:cNvPr id="37" name="Text37"/>
          <p:cNvSpPr txBox="1"/>
          <p:nvPr/>
        </p:nvSpPr>
        <p:spPr>
          <a:xfrm>
            <a:off x="9674352" y="4361688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OX платит газ за пользователя.</a:t>
            </a:r>
            <a:endParaRPr lang="ru-RU" sz="1200"/>
          </a:p>
        </p:txBody>
      </p:sp>
      <p:sp>
        <p:nvSpPr>
          <p:cNvPr id="38" name="Text38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39" name="Text3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4</a:t>
            </a:r>
            <a:endParaRPr lang="ru-RU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640080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200" b="1">
                <a:solidFill>
                  <a:srgbClr val="FFFFFF"/>
                </a:solidFill>
                <a:latin typeface="Aptos"/>
                <a:cs typeface="Aptos"/>
              </a:rPr>
              <a:t>Экономика одного тиража</a:t>
            </a:r>
            <a:endParaRPr lang="ru-RU" sz="3200"/>
          </a:p>
        </p:txBody>
      </p:sp>
      <p:sp>
        <p:nvSpPr>
          <p:cNvPr id="3" name="Text3"/>
          <p:cNvSpPr txBox="1"/>
          <p:nvPr/>
        </p:nvSpPr>
        <p:spPr>
          <a:xfrm>
            <a:off x="621792" y="12344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B9C3D6"/>
                </a:solidFill>
                <a:latin typeface="Aptos"/>
                <a:cs typeface="Aptos"/>
              </a:rPr>
              <a:t>Деньги разделяются заранее и понятно: пользовательские выплаты, комиссия платформы и джекпот следующего тиража.</a:t>
            </a:r>
            <a:endParaRPr lang="ru-RU" sz="1600"/>
          </a:p>
        </p:txBody>
      </p:sp>
      <p:sp>
        <p:nvSpPr>
          <p:cNvPr id="4" name="Text4"/>
          <p:cNvSpPr txBox="1"/>
          <p:nvPr/>
        </p:nvSpPr>
        <p:spPr>
          <a:xfrm>
            <a:off x="914400" y="2057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Оборот тиража</a:t>
            </a:r>
            <a:endParaRPr lang="ru-RU" sz="1500"/>
          </a:p>
        </p:txBody>
      </p:sp>
      <p:sp>
        <p:nvSpPr>
          <p:cNvPr id="5" name="Shape5"/>
          <p:cNvSpPr/>
          <p:nvPr/>
        </p:nvSpPr>
        <p:spPr>
          <a:xfrm>
            <a:off x="914400" y="2560320"/>
            <a:ext cx="6583680" cy="566928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7498080" y="2560320"/>
            <a:ext cx="822960" cy="566928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7" name="Shape7"/>
          <p:cNvSpPr/>
          <p:nvPr/>
        </p:nvSpPr>
        <p:spPr>
          <a:xfrm>
            <a:off x="8321040" y="2560320"/>
            <a:ext cx="822960" cy="566928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8" name="Text8"/>
          <p:cNvSpPr txBox="1"/>
          <p:nvPr/>
        </p:nvSpPr>
        <p:spPr>
          <a:xfrm>
            <a:off x="3291840" y="270662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 b="1">
                <a:solidFill>
                  <a:srgbClr val="08111F"/>
                </a:solidFill>
                <a:latin typeface="Aptos"/>
                <a:cs typeface="Aptos"/>
              </a:rPr>
              <a:t>80%</a:t>
            </a:r>
            <a:endParaRPr lang="ru-RU" sz="1500"/>
          </a:p>
        </p:txBody>
      </p:sp>
      <p:sp>
        <p:nvSpPr>
          <p:cNvPr id="9" name="Text9"/>
          <p:cNvSpPr txBox="1"/>
          <p:nvPr/>
        </p:nvSpPr>
        <p:spPr>
          <a:xfrm>
            <a:off x="7525512" y="2706624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08111F"/>
                </a:solidFill>
                <a:latin typeface="Aptos"/>
                <a:cs typeface="Aptos"/>
              </a:rPr>
              <a:t>10%</a:t>
            </a:r>
            <a:endParaRPr lang="ru-RU" sz="1200"/>
          </a:p>
        </p:txBody>
      </p:sp>
      <p:sp>
        <p:nvSpPr>
          <p:cNvPr id="10" name="Text10"/>
          <p:cNvSpPr txBox="1"/>
          <p:nvPr/>
        </p:nvSpPr>
        <p:spPr>
          <a:xfrm>
            <a:off x="8348472" y="2706624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08111F"/>
                </a:solidFill>
                <a:latin typeface="Aptos"/>
                <a:cs typeface="Aptos"/>
              </a:rPr>
              <a:t>10%</a:t>
            </a:r>
            <a:endParaRPr lang="ru-RU" sz="1200"/>
          </a:p>
        </p:txBody>
      </p:sp>
      <p:sp>
        <p:nvSpPr>
          <p:cNvPr id="11" name="Shape11"/>
          <p:cNvSpPr/>
          <p:nvPr/>
        </p:nvSpPr>
        <p:spPr>
          <a:xfrm>
            <a:off x="914400" y="3611880"/>
            <a:ext cx="2926080" cy="123444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2" name="Shape12"/>
          <p:cNvSpPr/>
          <p:nvPr/>
        </p:nvSpPr>
        <p:spPr>
          <a:xfrm>
            <a:off x="1078992" y="3776472"/>
            <a:ext cx="73152" cy="90525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1261872" y="381304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Призовой фонд</a:t>
            </a:r>
            <a:endParaRPr lang="ru-RU" sz="1700"/>
          </a:p>
        </p:txBody>
      </p:sp>
      <p:sp>
        <p:nvSpPr>
          <p:cNvPr id="14" name="Text14"/>
          <p:cNvSpPr txBox="1"/>
          <p:nvPr/>
        </p:nvSpPr>
        <p:spPr>
          <a:xfrm>
            <a:off x="1261872" y="4270248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80% оборота распределяется между уровнями 9/15-14/15.</a:t>
            </a:r>
            <a:endParaRPr lang="ru-RU" sz="1200"/>
          </a:p>
        </p:txBody>
      </p:sp>
      <p:sp>
        <p:nvSpPr>
          <p:cNvPr id="15" name="Shape15"/>
          <p:cNvSpPr/>
          <p:nvPr/>
        </p:nvSpPr>
        <p:spPr>
          <a:xfrm>
            <a:off x="4343400" y="3611880"/>
            <a:ext cx="2926080" cy="123444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6" name="Shape16"/>
          <p:cNvSpPr/>
          <p:nvPr/>
        </p:nvSpPr>
        <p:spPr>
          <a:xfrm>
            <a:off x="4507992" y="3776472"/>
            <a:ext cx="73152" cy="90525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4690872" y="381304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Комиссия платформы</a:t>
            </a:r>
            <a:endParaRPr lang="ru-RU" sz="1700"/>
          </a:p>
        </p:txBody>
      </p:sp>
      <p:sp>
        <p:nvSpPr>
          <p:cNvPr id="18" name="Text18"/>
          <p:cNvSpPr txBox="1"/>
          <p:nvPr/>
        </p:nvSpPr>
        <p:spPr>
          <a:xfrm>
            <a:off x="4690872" y="4270248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10% покрывает доход, операции и резерв газа.</a:t>
            </a:r>
            <a:endParaRPr lang="ru-RU" sz="1200"/>
          </a:p>
        </p:txBody>
      </p:sp>
      <p:sp>
        <p:nvSpPr>
          <p:cNvPr id="19" name="Shape19"/>
          <p:cNvSpPr/>
          <p:nvPr/>
        </p:nvSpPr>
        <p:spPr>
          <a:xfrm>
            <a:off x="7772400" y="3611880"/>
            <a:ext cx="2926080" cy="123444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20" name="Shape20"/>
          <p:cNvSpPr/>
          <p:nvPr/>
        </p:nvSpPr>
        <p:spPr>
          <a:xfrm>
            <a:off x="7936992" y="3776472"/>
            <a:ext cx="73152" cy="90525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21" name="Text21"/>
          <p:cNvSpPr txBox="1"/>
          <p:nvPr/>
        </p:nvSpPr>
        <p:spPr>
          <a:xfrm>
            <a:off x="8119872" y="381304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Джекпот</a:t>
            </a:r>
            <a:endParaRPr lang="ru-RU" sz="1700"/>
          </a:p>
        </p:txBody>
      </p:sp>
      <p:sp>
        <p:nvSpPr>
          <p:cNvPr id="22" name="Text22"/>
          <p:cNvSpPr txBox="1"/>
          <p:nvPr/>
        </p:nvSpPr>
        <p:spPr>
          <a:xfrm>
            <a:off x="8119872" y="4270248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10% пополняет джекпот следующего тиража, а не текущего.</a:t>
            </a:r>
            <a:endParaRPr lang="ru-RU" sz="1200"/>
          </a:p>
        </p:txBody>
      </p:sp>
      <p:sp>
        <p:nvSpPr>
          <p:cNvPr id="23" name="Shape23"/>
          <p:cNvSpPr/>
          <p:nvPr/>
        </p:nvSpPr>
        <p:spPr>
          <a:xfrm>
            <a:off x="914400" y="5394960"/>
            <a:ext cx="9875520" cy="502920"/>
          </a:xfrm>
          <a:prstGeom prst="roundRect">
            <a:avLst/>
          </a:prstGeom>
          <a:solidFill>
            <a:srgbClr val="FFFFFF">
              <a:alpha val="8000"/>
            </a:srgbClr>
          </a:solidFill>
          <a:ln w="8000">
            <a:solidFill>
              <a:srgbClr val="FFFFFF">
                <a:alpha val="18000"/>
              </a:srgbClr>
            </a:solidFill>
          </a:ln>
        </p:spPr>
      </p:sp>
      <p:sp>
        <p:nvSpPr>
          <p:cNvPr id="24" name="Text24"/>
          <p:cNvSpPr txBox="1"/>
          <p:nvPr/>
        </p:nvSpPr>
        <p:spPr>
          <a:xfrm>
            <a:off x="1097280" y="5532120"/>
            <a:ext cx="9509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300" b="1">
                <a:solidFill>
                  <a:srgbClr val="FFFFFF"/>
                </a:solidFill>
                <a:latin typeface="Aptos"/>
                <a:cs typeface="Aptos"/>
              </a:rPr>
              <a:t>Минимальный публичный джекпот MVP: 5 000 USDC. Активный джекпот фиксируется до открытия продаж.</a:t>
            </a:r>
            <a:endParaRPr lang="ru-RU" sz="1300"/>
          </a:p>
        </p:txBody>
      </p:sp>
      <p:sp>
        <p:nvSpPr>
          <p:cNvPr id="25" name="Text25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26" name="Text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5</a:t>
            </a:r>
            <a:endParaRPr lang="ru-RU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6400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200" b="1">
                <a:solidFill>
                  <a:srgbClr val="FFFFFF"/>
                </a:solidFill>
                <a:latin typeface="Aptos"/>
                <a:cs typeface="Aptos"/>
              </a:rPr>
              <a:t>Почему блокчейн, Base и USDC</a:t>
            </a:r>
            <a:endParaRPr lang="ru-RU" sz="3200"/>
          </a:p>
        </p:txBody>
      </p:sp>
      <p:sp>
        <p:nvSpPr>
          <p:cNvPr id="3" name="Shape3"/>
          <p:cNvSpPr/>
          <p:nvPr/>
        </p:nvSpPr>
        <p:spPr>
          <a:xfrm>
            <a:off x="777240" y="1691640"/>
            <a:ext cx="3154680" cy="141732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4" name="Shape4"/>
          <p:cNvSpPr/>
          <p:nvPr/>
        </p:nvSpPr>
        <p:spPr>
          <a:xfrm>
            <a:off x="941832" y="1856232"/>
            <a:ext cx="73152" cy="108813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124712" y="189280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Проверяемость</a:t>
            </a:r>
            <a:endParaRPr lang="ru-RU" sz="1700"/>
          </a:p>
        </p:txBody>
      </p:sp>
      <p:sp>
        <p:nvSpPr>
          <p:cNvPr id="6" name="Text6"/>
          <p:cNvSpPr txBox="1"/>
          <p:nvPr/>
        </p:nvSpPr>
        <p:spPr>
          <a:xfrm>
            <a:off x="1124712" y="235000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События покупки, корень выплат и факты получения выплаты оставляют проверяемый след.</a:t>
            </a:r>
            <a:endParaRPr lang="ru-RU" sz="1200"/>
          </a:p>
        </p:txBody>
      </p:sp>
      <p:sp>
        <p:nvSpPr>
          <p:cNvPr id="7" name="Shape7"/>
          <p:cNvSpPr/>
          <p:nvPr/>
        </p:nvSpPr>
        <p:spPr>
          <a:xfrm>
            <a:off x="4526280" y="1691640"/>
            <a:ext cx="3154680" cy="141732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8" name="Shape8"/>
          <p:cNvSpPr/>
          <p:nvPr/>
        </p:nvSpPr>
        <p:spPr>
          <a:xfrm>
            <a:off x="4690872" y="1856232"/>
            <a:ext cx="73152" cy="108813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4873752" y="189280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Понятная валюта</a:t>
            </a:r>
            <a:endParaRPr lang="ru-RU" sz="1700"/>
          </a:p>
        </p:txBody>
      </p:sp>
      <p:sp>
        <p:nvSpPr>
          <p:cNvPr id="10" name="Text10"/>
          <p:cNvSpPr txBox="1"/>
          <p:nvPr/>
        </p:nvSpPr>
        <p:spPr>
          <a:xfrm>
            <a:off x="4873752" y="235000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USDC снижает валютную неопределенность и упрощает восприятие выигрыша.</a:t>
            </a:r>
            <a:endParaRPr lang="ru-RU" sz="1200"/>
          </a:p>
        </p:txBody>
      </p:sp>
      <p:sp>
        <p:nvSpPr>
          <p:cNvPr id="11" name="Shape11"/>
          <p:cNvSpPr/>
          <p:nvPr/>
        </p:nvSpPr>
        <p:spPr>
          <a:xfrm>
            <a:off x="8275320" y="1691640"/>
            <a:ext cx="3154680" cy="141732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2" name="Shape12"/>
          <p:cNvSpPr/>
          <p:nvPr/>
        </p:nvSpPr>
        <p:spPr>
          <a:xfrm>
            <a:off x="8439912" y="1856232"/>
            <a:ext cx="73152" cy="108813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8622792" y="189280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Дешевые операции</a:t>
            </a:r>
            <a:endParaRPr lang="ru-RU" sz="1700"/>
          </a:p>
        </p:txBody>
      </p:sp>
      <p:sp>
        <p:nvSpPr>
          <p:cNvPr id="14" name="Text14"/>
          <p:cNvSpPr txBox="1"/>
          <p:nvPr/>
        </p:nvSpPr>
        <p:spPr>
          <a:xfrm>
            <a:off x="8622792" y="235000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Base подходит для частых покупок, выплат и технических действий MVP.</a:t>
            </a:r>
            <a:endParaRPr lang="ru-RU" sz="1200"/>
          </a:p>
        </p:txBody>
      </p:sp>
      <p:sp>
        <p:nvSpPr>
          <p:cNvPr id="15" name="Shape15"/>
          <p:cNvSpPr/>
          <p:nvPr/>
        </p:nvSpPr>
        <p:spPr>
          <a:xfrm>
            <a:off x="914400" y="3886200"/>
            <a:ext cx="9966960" cy="1417320"/>
          </a:xfrm>
          <a:prstGeom prst="roundRect">
            <a:avLst/>
          </a:prstGeom>
          <a:solidFill>
            <a:srgbClr val="101C31"/>
          </a:solidFill>
          <a:ln w="10000">
            <a:solidFill>
              <a:srgbClr val="263650"/>
            </a:solidFill>
          </a:ln>
        </p:spPr>
      </p:sp>
      <p:sp>
        <p:nvSpPr>
          <p:cNvPr id="16" name="Text16"/>
          <p:cNvSpPr txBox="1"/>
          <p:nvPr/>
        </p:nvSpPr>
        <p:spPr>
          <a:xfrm>
            <a:off x="1188720" y="4187952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000" b="1">
                <a:solidFill>
                  <a:srgbClr val="D7FF3F"/>
                </a:solidFill>
                <a:latin typeface="Aptos"/>
                <a:cs typeface="Aptos"/>
              </a:rPr>
              <a:t>Принцип архитектуры</a:t>
            </a:r>
            <a:endParaRPr lang="ru-RU" sz="2000"/>
          </a:p>
        </p:txBody>
      </p:sp>
      <p:sp>
        <p:nvSpPr>
          <p:cNvPr id="17" name="Text17"/>
          <p:cNvSpPr txBox="1"/>
          <p:nvPr/>
        </p:nvSpPr>
        <p:spPr>
          <a:xfrm>
            <a:off x="1234440" y="4636008"/>
            <a:ext cx="9235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>
                <a:solidFill>
                  <a:srgbClr val="FFFFFF"/>
                </a:solidFill>
                <a:latin typeface="Aptos"/>
                <a:cs typeface="Aptos"/>
              </a:rPr>
              <a:t>Блокчейн не должен усложнять пользовательский опыт. Он должен усиливать доверие к деньгам, правилам и выплатам.</a:t>
            </a:r>
            <a:endParaRPr lang="ru-RU" sz="1700"/>
          </a:p>
        </p:txBody>
      </p:sp>
      <p:sp>
        <p:nvSpPr>
          <p:cNvPr id="18" name="Text18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19" name="Text1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6</a:t>
            </a:r>
            <a:endParaRPr lang="ru-RU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64008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200" b="1">
                <a:solidFill>
                  <a:srgbClr val="FFFFFF"/>
                </a:solidFill>
                <a:latin typeface="Aptos"/>
                <a:cs typeface="Aptos"/>
              </a:rPr>
              <a:t>Архитектура MVP</a:t>
            </a:r>
            <a:endParaRPr lang="ru-RU" sz="3200"/>
          </a:p>
        </p:txBody>
      </p:sp>
      <p:sp>
        <p:nvSpPr>
          <p:cNvPr id="3" name="Text3"/>
          <p:cNvSpPr txBox="1"/>
          <p:nvPr/>
        </p:nvSpPr>
        <p:spPr>
          <a:xfrm>
            <a:off x="621792" y="12344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B9C3D6"/>
                </a:solidFill>
                <a:latin typeface="Aptos"/>
                <a:cs typeface="Aptos"/>
              </a:rPr>
              <a:t>Разделяем пользовательский опыт, серверную логику, данные спорта и блокчейн-слой.</a:t>
            </a:r>
            <a:endParaRPr lang="ru-RU" sz="1600"/>
          </a:p>
        </p:txBody>
      </p:sp>
      <p:sp>
        <p:nvSpPr>
          <p:cNvPr id="4" name="Shape4"/>
          <p:cNvSpPr/>
          <p:nvPr/>
        </p:nvSpPr>
        <p:spPr>
          <a:xfrm>
            <a:off x="685800" y="1866265"/>
            <a:ext cx="2423160" cy="101981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5" name="Shape5"/>
          <p:cNvSpPr/>
          <p:nvPr/>
        </p:nvSpPr>
        <p:spPr>
          <a:xfrm>
            <a:off x="850392" y="2007362"/>
            <a:ext cx="73152" cy="585216"/>
          </a:xfrm>
          <a:prstGeom prst="roundRect">
            <a:avLst>
              <a:gd name="adj" fmla="val 30208"/>
            </a:avLst>
          </a:prstGeom>
          <a:solidFill>
            <a:srgbClr val="37D6FF"/>
          </a:solidFill>
          <a:ln>
            <a:noFill/>
          </a:ln>
        </p:spPr>
      </p:sp>
      <p:sp>
        <p:nvSpPr>
          <p:cNvPr id="6" name="Text6"/>
          <p:cNvSpPr txBox="1"/>
          <p:nvPr/>
        </p:nvSpPr>
        <p:spPr>
          <a:xfrm>
            <a:off x="1033272" y="20756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Интерфейс</a:t>
            </a:r>
            <a:endParaRPr lang="ru-RU" sz="1700"/>
          </a:p>
        </p:txBody>
      </p:sp>
      <p:sp>
        <p:nvSpPr>
          <p:cNvPr id="7" name="Text7"/>
          <p:cNvSpPr txBox="1"/>
          <p:nvPr/>
        </p:nvSpPr>
        <p:spPr>
          <a:xfrm>
            <a:off x="1033145" y="2399665"/>
            <a:ext cx="1920240" cy="2705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Покупка билета, история, статусы, выплаты.</a:t>
            </a:r>
            <a:endParaRPr lang="ru-RU" sz="1200"/>
          </a:p>
        </p:txBody>
      </p:sp>
      <p:sp>
        <p:nvSpPr>
          <p:cNvPr id="8" name="Shape8"/>
          <p:cNvSpPr/>
          <p:nvPr/>
        </p:nvSpPr>
        <p:spPr>
          <a:xfrm>
            <a:off x="685800" y="3154680"/>
            <a:ext cx="2423160" cy="111696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9" name="Shape9"/>
          <p:cNvSpPr/>
          <p:nvPr/>
        </p:nvSpPr>
        <p:spPr>
          <a:xfrm>
            <a:off x="850392" y="3319272"/>
            <a:ext cx="73152" cy="58521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1033272" y="33558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Админ-панель</a:t>
            </a:r>
            <a:endParaRPr lang="ru-RU" sz="1700"/>
          </a:p>
        </p:txBody>
      </p:sp>
      <p:sp>
        <p:nvSpPr>
          <p:cNvPr id="11" name="Text11"/>
          <p:cNvSpPr txBox="1"/>
          <p:nvPr/>
        </p:nvSpPr>
        <p:spPr>
          <a:xfrm>
            <a:off x="1033145" y="3660775"/>
            <a:ext cx="1920240" cy="3009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Тиражи, оракул, выплаты, журнал аудита.</a:t>
            </a:r>
            <a:endParaRPr lang="ru-RU" sz="1200"/>
          </a:p>
        </p:txBody>
      </p:sp>
      <p:sp>
        <p:nvSpPr>
          <p:cNvPr id="12" name="Shape12"/>
          <p:cNvSpPr/>
          <p:nvPr/>
        </p:nvSpPr>
        <p:spPr>
          <a:xfrm>
            <a:off x="3703320" y="1874520"/>
            <a:ext cx="2423160" cy="9906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  <p:txBody>
          <a:bodyPr/>
          <a:p>
            <a:endParaRPr lang="ru-RU" altLang="en-US"/>
          </a:p>
        </p:txBody>
      </p:sp>
      <p:sp>
        <p:nvSpPr>
          <p:cNvPr id="13" name="Shape13"/>
          <p:cNvSpPr/>
          <p:nvPr/>
        </p:nvSpPr>
        <p:spPr>
          <a:xfrm>
            <a:off x="3867912" y="2039112"/>
            <a:ext cx="73152" cy="58521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4" name="Text14"/>
          <p:cNvSpPr txBox="1"/>
          <p:nvPr/>
        </p:nvSpPr>
        <p:spPr>
          <a:xfrm>
            <a:off x="4050792" y="20756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Серверная часть</a:t>
            </a:r>
            <a:endParaRPr lang="ru-RU" sz="1700"/>
          </a:p>
        </p:txBody>
      </p:sp>
      <p:sp>
        <p:nvSpPr>
          <p:cNvPr id="15" name="Text15"/>
          <p:cNvSpPr txBox="1"/>
          <p:nvPr/>
        </p:nvSpPr>
        <p:spPr>
          <a:xfrm>
            <a:off x="4050665" y="2400300"/>
            <a:ext cx="1920240" cy="269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API, база данных, риск-движок, расчет тиража.</a:t>
            </a:r>
            <a:endParaRPr lang="ru-RU" sz="1200"/>
          </a:p>
        </p:txBody>
      </p:sp>
      <p:sp>
        <p:nvSpPr>
          <p:cNvPr id="16" name="Shape16"/>
          <p:cNvSpPr/>
          <p:nvPr/>
        </p:nvSpPr>
        <p:spPr>
          <a:xfrm>
            <a:off x="3703320" y="3154680"/>
            <a:ext cx="2423160" cy="111633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7" name="Shape17"/>
          <p:cNvSpPr/>
          <p:nvPr/>
        </p:nvSpPr>
        <p:spPr>
          <a:xfrm>
            <a:off x="3867912" y="3319272"/>
            <a:ext cx="73152" cy="58521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8" name="Text18"/>
          <p:cNvSpPr txBox="1"/>
          <p:nvPr/>
        </p:nvSpPr>
        <p:spPr>
          <a:xfrm>
            <a:off x="4050792" y="33558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Индексатор</a:t>
            </a:r>
            <a:endParaRPr lang="ru-RU" sz="1700"/>
          </a:p>
        </p:txBody>
      </p:sp>
      <p:sp>
        <p:nvSpPr>
          <p:cNvPr id="19" name="Text19"/>
          <p:cNvSpPr txBox="1"/>
          <p:nvPr/>
        </p:nvSpPr>
        <p:spPr>
          <a:xfrm>
            <a:off x="4050665" y="3662045"/>
            <a:ext cx="1920240" cy="288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События блокчейна, сверка, повторное воспроизведение.</a:t>
            </a:r>
            <a:endParaRPr lang="ru-RU" sz="1200"/>
          </a:p>
        </p:txBody>
      </p:sp>
      <p:sp>
        <p:nvSpPr>
          <p:cNvPr id="20" name="Shape20"/>
          <p:cNvSpPr/>
          <p:nvPr/>
        </p:nvSpPr>
        <p:spPr>
          <a:xfrm>
            <a:off x="6720840" y="1874520"/>
            <a:ext cx="2423160" cy="99060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21" name="Shape21"/>
          <p:cNvSpPr/>
          <p:nvPr/>
        </p:nvSpPr>
        <p:spPr>
          <a:xfrm>
            <a:off x="6885432" y="2039112"/>
            <a:ext cx="73152" cy="58521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22" name="Text22"/>
          <p:cNvSpPr txBox="1"/>
          <p:nvPr/>
        </p:nvSpPr>
        <p:spPr>
          <a:xfrm>
            <a:off x="7068312" y="20756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Оракул</a:t>
            </a:r>
            <a:endParaRPr lang="ru-RU" sz="1700"/>
          </a:p>
        </p:txBody>
      </p:sp>
      <p:sp>
        <p:nvSpPr>
          <p:cNvPr id="23" name="Text23"/>
          <p:cNvSpPr txBox="1"/>
          <p:nvPr/>
        </p:nvSpPr>
        <p:spPr>
          <a:xfrm>
            <a:off x="7068185" y="2399665"/>
            <a:ext cx="1920240" cy="2705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3 источника данных, манифест, ручной резерв.</a:t>
            </a:r>
            <a:endParaRPr lang="ru-RU" sz="1200"/>
          </a:p>
        </p:txBody>
      </p:sp>
      <p:sp>
        <p:nvSpPr>
          <p:cNvPr id="24" name="Shape24"/>
          <p:cNvSpPr/>
          <p:nvPr/>
        </p:nvSpPr>
        <p:spPr>
          <a:xfrm>
            <a:off x="6720840" y="3154680"/>
            <a:ext cx="2423160" cy="111125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25" name="Shape25"/>
          <p:cNvSpPr/>
          <p:nvPr/>
        </p:nvSpPr>
        <p:spPr>
          <a:xfrm>
            <a:off x="6885432" y="3319272"/>
            <a:ext cx="73152" cy="58521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26" name="Text26"/>
          <p:cNvSpPr txBox="1"/>
          <p:nvPr/>
        </p:nvSpPr>
        <p:spPr>
          <a:xfrm>
            <a:off x="7068312" y="33558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Релейер</a:t>
            </a:r>
            <a:endParaRPr lang="ru-RU" sz="1700"/>
          </a:p>
        </p:txBody>
      </p:sp>
      <p:sp>
        <p:nvSpPr>
          <p:cNvPr id="27" name="Text27"/>
          <p:cNvSpPr txBox="1"/>
          <p:nvPr/>
        </p:nvSpPr>
        <p:spPr>
          <a:xfrm>
            <a:off x="7068185" y="3724910"/>
            <a:ext cx="1920240" cy="225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Очередь выплат, газ, автоматическое получение.</a:t>
            </a:r>
            <a:endParaRPr lang="ru-RU" sz="1200"/>
          </a:p>
        </p:txBody>
      </p:sp>
      <p:sp>
        <p:nvSpPr>
          <p:cNvPr id="28" name="Shape28"/>
          <p:cNvSpPr/>
          <p:nvPr/>
        </p:nvSpPr>
        <p:spPr>
          <a:xfrm>
            <a:off x="9646920" y="2514600"/>
            <a:ext cx="1920240" cy="129857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29" name="Shape29"/>
          <p:cNvSpPr/>
          <p:nvPr/>
        </p:nvSpPr>
        <p:spPr>
          <a:xfrm>
            <a:off x="9811512" y="2679192"/>
            <a:ext cx="73152" cy="58521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30" name="Text30"/>
          <p:cNvSpPr txBox="1"/>
          <p:nvPr/>
        </p:nvSpPr>
        <p:spPr>
          <a:xfrm>
            <a:off x="9994392" y="271576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Контракты</a:t>
            </a:r>
            <a:endParaRPr lang="ru-RU" sz="1700"/>
          </a:p>
        </p:txBody>
      </p:sp>
      <p:sp>
        <p:nvSpPr>
          <p:cNvPr id="31" name="Text31"/>
          <p:cNvSpPr txBox="1"/>
          <p:nvPr/>
        </p:nvSpPr>
        <p:spPr>
          <a:xfrm>
            <a:off x="9994392" y="3172968"/>
            <a:ext cx="14173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Билеты, казна, результаты, выплаты.</a:t>
            </a:r>
            <a:endParaRPr lang="ru-RU" sz="1200"/>
          </a:p>
        </p:txBody>
      </p:sp>
      <p:sp>
        <p:nvSpPr>
          <p:cNvPr id="32" name="Shape32"/>
          <p:cNvSpPr/>
          <p:nvPr/>
        </p:nvSpPr>
        <p:spPr>
          <a:xfrm>
            <a:off x="3246120" y="2286000"/>
            <a:ext cx="320040" cy="73152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33" name="Shape33"/>
          <p:cNvSpPr/>
          <p:nvPr/>
        </p:nvSpPr>
        <p:spPr>
          <a:xfrm>
            <a:off x="6309360" y="2286000"/>
            <a:ext cx="320040" cy="73152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34" name="Shape34"/>
          <p:cNvSpPr/>
          <p:nvPr/>
        </p:nvSpPr>
        <p:spPr>
          <a:xfrm>
            <a:off x="9217152" y="2926080"/>
            <a:ext cx="320040" cy="73152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35" name="Shape35"/>
          <p:cNvSpPr/>
          <p:nvPr/>
        </p:nvSpPr>
        <p:spPr>
          <a:xfrm>
            <a:off x="3246120" y="3566160"/>
            <a:ext cx="320040" cy="73152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36" name="Text36"/>
          <p:cNvSpPr txBox="1"/>
          <p:nvPr/>
        </p:nvSpPr>
        <p:spPr>
          <a:xfrm>
            <a:off x="1005840" y="516636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FFFFFF"/>
                </a:solidFill>
                <a:latin typeface="Aptos"/>
                <a:cs typeface="Aptos"/>
              </a:rPr>
              <a:t>Ключевой запрет MVP: администратор не может вывести пользовательские средства из призового фонда.</a:t>
            </a:r>
            <a:endParaRPr lang="ru-RU" sz="1800"/>
          </a:p>
        </p:txBody>
      </p:sp>
      <p:sp>
        <p:nvSpPr>
          <p:cNvPr id="37" name="Text37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38" name="Text3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7</a:t>
            </a:r>
            <a:endParaRPr lang="ru-RU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429260"/>
            <a:ext cx="8138160" cy="974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100" b="1">
                <a:solidFill>
                  <a:srgbClr val="FFFFFF"/>
                </a:solidFill>
                <a:latin typeface="Aptos"/>
                <a:cs typeface="Aptos"/>
              </a:rPr>
              <a:t>Выплаты: удобно пользователю, проверяемо системе</a:t>
            </a:r>
            <a:endParaRPr lang="ru-RU" sz="3100" b="1">
              <a:solidFill>
                <a:srgbClr val="FFFFFF"/>
              </a:solidFill>
              <a:latin typeface="Aptos"/>
              <a:cs typeface="Aptos"/>
            </a:endParaRPr>
          </a:p>
          <a:p>
            <a:pPr algn="l"/>
            <a:endParaRPr lang="ru-RU" sz="3100"/>
          </a:p>
          <a:p>
            <a:pPr algn="l"/>
            <a:endParaRPr lang="ru-RU" sz="3100"/>
          </a:p>
        </p:txBody>
      </p:sp>
      <p:sp>
        <p:nvSpPr>
          <p:cNvPr id="3" name="Text3"/>
          <p:cNvSpPr txBox="1"/>
          <p:nvPr/>
        </p:nvSpPr>
        <p:spPr>
          <a:xfrm>
            <a:off x="621665" y="1907540"/>
            <a:ext cx="804672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B9C3D6"/>
                </a:solidFill>
                <a:latin typeface="Aptos"/>
                <a:cs typeface="Aptos"/>
              </a:rPr>
              <a:t>Модель MVP: расчет через Merkle, автоматическая заявка за счет платформы, ручной резервный сценарий.</a:t>
            </a:r>
            <a:endParaRPr lang="ru-RU" sz="1600"/>
          </a:p>
        </p:txBody>
      </p:sp>
      <p:sp>
        <p:nvSpPr>
          <p:cNvPr id="4" name="Shape4"/>
          <p:cNvSpPr/>
          <p:nvPr/>
        </p:nvSpPr>
        <p:spPr>
          <a:xfrm>
            <a:off x="673100" y="2737485"/>
            <a:ext cx="2371725" cy="121793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5" name="Shape5"/>
          <p:cNvSpPr/>
          <p:nvPr/>
        </p:nvSpPr>
        <p:spPr>
          <a:xfrm>
            <a:off x="887222" y="2853182"/>
            <a:ext cx="73152" cy="749808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6" name="Text6"/>
          <p:cNvSpPr txBox="1"/>
          <p:nvPr/>
        </p:nvSpPr>
        <p:spPr>
          <a:xfrm>
            <a:off x="1124585" y="2847340"/>
            <a:ext cx="1920240" cy="372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1. Расчет</a:t>
            </a:r>
            <a:endParaRPr lang="ru-RU" sz="1700"/>
          </a:p>
        </p:txBody>
      </p:sp>
      <p:sp>
        <p:nvSpPr>
          <p:cNvPr id="7" name="Text7"/>
          <p:cNvSpPr txBox="1"/>
          <p:nvPr/>
        </p:nvSpPr>
        <p:spPr>
          <a:xfrm>
            <a:off x="1124585" y="3342640"/>
            <a:ext cx="1920240" cy="4641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Сервер формирует реестр выплат после финальных результатов.</a:t>
            </a:r>
            <a:endParaRPr lang="ru-RU" sz="1200"/>
          </a:p>
        </p:txBody>
      </p:sp>
      <p:sp>
        <p:nvSpPr>
          <p:cNvPr id="8" name="Shape8"/>
          <p:cNvSpPr/>
          <p:nvPr/>
        </p:nvSpPr>
        <p:spPr>
          <a:xfrm>
            <a:off x="3373120" y="2718435"/>
            <a:ext cx="2423160" cy="124587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9" name="Shape9"/>
          <p:cNvSpPr/>
          <p:nvPr/>
        </p:nvSpPr>
        <p:spPr>
          <a:xfrm>
            <a:off x="3647567" y="2847467"/>
            <a:ext cx="73152" cy="749808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3927475" y="2847975"/>
            <a:ext cx="176911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2. Корень</a:t>
            </a:r>
            <a:endParaRPr lang="ru-RU" sz="1700"/>
          </a:p>
        </p:txBody>
      </p:sp>
      <p:sp>
        <p:nvSpPr>
          <p:cNvPr id="11" name="Text11"/>
          <p:cNvSpPr txBox="1"/>
          <p:nvPr/>
        </p:nvSpPr>
        <p:spPr>
          <a:xfrm>
            <a:off x="3928110" y="3352165"/>
            <a:ext cx="1805305" cy="450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Merkle root публикуется в смарт-контракте.</a:t>
            </a:r>
            <a:endParaRPr lang="ru-RU" sz="1200"/>
          </a:p>
        </p:txBody>
      </p:sp>
      <p:sp>
        <p:nvSpPr>
          <p:cNvPr id="12" name="Shape12"/>
          <p:cNvSpPr/>
          <p:nvPr/>
        </p:nvSpPr>
        <p:spPr>
          <a:xfrm>
            <a:off x="6124575" y="2708910"/>
            <a:ext cx="2423160" cy="124650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3" name="Shape13"/>
          <p:cNvSpPr/>
          <p:nvPr/>
        </p:nvSpPr>
        <p:spPr>
          <a:xfrm>
            <a:off x="6236462" y="2925572"/>
            <a:ext cx="73152" cy="749808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4" name="Text14"/>
          <p:cNvSpPr txBox="1"/>
          <p:nvPr/>
        </p:nvSpPr>
        <p:spPr>
          <a:xfrm>
            <a:off x="6527927" y="28478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3. Очередь</a:t>
            </a:r>
            <a:endParaRPr lang="ru-RU" sz="1700"/>
          </a:p>
        </p:txBody>
      </p:sp>
      <p:sp>
        <p:nvSpPr>
          <p:cNvPr id="15" name="Text15"/>
          <p:cNvSpPr txBox="1"/>
          <p:nvPr/>
        </p:nvSpPr>
        <p:spPr>
          <a:xfrm>
            <a:off x="6537325" y="3270885"/>
            <a:ext cx="1932940" cy="483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Исполнитель получает доказательство и ставит выплату в очередь.</a:t>
            </a:r>
            <a:endParaRPr lang="ru-RU" sz="1200"/>
          </a:p>
        </p:txBody>
      </p:sp>
      <p:sp>
        <p:nvSpPr>
          <p:cNvPr id="16" name="Shape16"/>
          <p:cNvSpPr/>
          <p:nvPr/>
        </p:nvSpPr>
        <p:spPr>
          <a:xfrm>
            <a:off x="8903970" y="2717800"/>
            <a:ext cx="2423160" cy="124714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7" name="Shape17"/>
          <p:cNvSpPr/>
          <p:nvPr/>
        </p:nvSpPr>
        <p:spPr>
          <a:xfrm>
            <a:off x="8980932" y="2924937"/>
            <a:ext cx="73152" cy="749808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8" name="Text18"/>
          <p:cNvSpPr txBox="1"/>
          <p:nvPr/>
        </p:nvSpPr>
        <p:spPr>
          <a:xfrm>
            <a:off x="9335897" y="285292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4. USDC</a:t>
            </a:r>
            <a:endParaRPr lang="ru-RU" sz="1700"/>
          </a:p>
        </p:txBody>
      </p:sp>
      <p:sp>
        <p:nvSpPr>
          <p:cNvPr id="19" name="Text19"/>
          <p:cNvSpPr txBox="1"/>
          <p:nvPr/>
        </p:nvSpPr>
        <p:spPr>
          <a:xfrm>
            <a:off x="9310370" y="3298825"/>
            <a:ext cx="1815465" cy="3949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Пользователь получает выплату, газ оплачивает OX.</a:t>
            </a:r>
            <a:endParaRPr lang="ru-RU" sz="1200"/>
          </a:p>
        </p:txBody>
      </p:sp>
      <p:sp>
        <p:nvSpPr>
          <p:cNvPr id="20" name="Shape20"/>
          <p:cNvSpPr/>
          <p:nvPr/>
        </p:nvSpPr>
        <p:spPr>
          <a:xfrm>
            <a:off x="3126105" y="3226308"/>
            <a:ext cx="137160" cy="73152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21" name="Shape21"/>
          <p:cNvSpPr/>
          <p:nvPr/>
        </p:nvSpPr>
        <p:spPr>
          <a:xfrm>
            <a:off x="5906135" y="3197733"/>
            <a:ext cx="137160" cy="73152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22" name="Shape22"/>
          <p:cNvSpPr/>
          <p:nvPr/>
        </p:nvSpPr>
        <p:spPr>
          <a:xfrm>
            <a:off x="8656955" y="3212973"/>
            <a:ext cx="137160" cy="73152"/>
          </a:xfrm>
          <a:prstGeom prst="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23" name="Shape23"/>
          <p:cNvSpPr/>
          <p:nvPr/>
        </p:nvSpPr>
        <p:spPr>
          <a:xfrm>
            <a:off x="960120" y="4268470"/>
            <a:ext cx="4800600" cy="1261745"/>
          </a:xfrm>
          <a:prstGeom prst="roundRect">
            <a:avLst/>
          </a:prstGeom>
          <a:solidFill>
            <a:srgbClr val="111A2E"/>
          </a:solidFill>
          <a:ln w="10000">
            <a:solidFill>
              <a:srgbClr val="263650"/>
            </a:solidFill>
          </a:ln>
        </p:spPr>
      </p:sp>
      <p:sp>
        <p:nvSpPr>
          <p:cNvPr id="24" name="Text24"/>
          <p:cNvSpPr txBox="1"/>
          <p:nvPr/>
        </p:nvSpPr>
        <p:spPr>
          <a:xfrm>
            <a:off x="1234440" y="426110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900" b="1">
                <a:solidFill>
                  <a:srgbClr val="D7FF3F"/>
                </a:solidFill>
                <a:latin typeface="Aptos"/>
                <a:cs typeface="Aptos"/>
              </a:rPr>
              <a:t>Резервный сценарий</a:t>
            </a:r>
            <a:endParaRPr lang="ru-RU" sz="1900"/>
          </a:p>
        </p:txBody>
      </p:sp>
      <p:sp>
        <p:nvSpPr>
          <p:cNvPr id="25" name="Text25"/>
          <p:cNvSpPr txBox="1"/>
          <p:nvPr/>
        </p:nvSpPr>
        <p:spPr>
          <a:xfrm>
            <a:off x="1234440" y="4681728"/>
            <a:ext cx="4343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>
                <a:solidFill>
                  <a:srgbClr val="B9C3D6"/>
                </a:solidFill>
                <a:latin typeface="Aptos"/>
                <a:cs typeface="Aptos"/>
              </a:rPr>
              <a:t>Если автоматическая выплата не прошла, пользователь может получить выигрыш вручную через доказательство Merkle.</a:t>
            </a:r>
            <a:endParaRPr lang="ru-RU" sz="1400"/>
          </a:p>
        </p:txBody>
      </p:sp>
      <p:sp>
        <p:nvSpPr>
          <p:cNvPr id="26" name="Shape26"/>
          <p:cNvSpPr/>
          <p:nvPr/>
        </p:nvSpPr>
        <p:spPr>
          <a:xfrm>
            <a:off x="6309360" y="4268470"/>
            <a:ext cx="4800600" cy="1261745"/>
          </a:xfrm>
          <a:prstGeom prst="roundRect">
            <a:avLst/>
          </a:prstGeom>
          <a:solidFill>
            <a:srgbClr val="111A2E"/>
          </a:solidFill>
          <a:ln w="10000">
            <a:solidFill>
              <a:srgbClr val="263650"/>
            </a:solidFill>
          </a:ln>
        </p:spPr>
      </p:sp>
      <p:sp>
        <p:nvSpPr>
          <p:cNvPr id="27" name="Text27"/>
          <p:cNvSpPr txBox="1"/>
          <p:nvPr/>
        </p:nvSpPr>
        <p:spPr>
          <a:xfrm>
            <a:off x="6583680" y="426110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900" b="1">
                <a:solidFill>
                  <a:srgbClr val="D7FF3F"/>
                </a:solidFill>
                <a:latin typeface="Aptos"/>
                <a:cs typeface="Aptos"/>
              </a:rPr>
              <a:t>Контроль риска</a:t>
            </a:r>
            <a:endParaRPr lang="ru-RU" sz="1900"/>
          </a:p>
        </p:txBody>
      </p:sp>
      <p:sp>
        <p:nvSpPr>
          <p:cNvPr id="28" name="Text28"/>
          <p:cNvSpPr txBox="1"/>
          <p:nvPr/>
        </p:nvSpPr>
        <p:spPr>
          <a:xfrm>
            <a:off x="6583680" y="4681728"/>
            <a:ext cx="4343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>
                <a:solidFill>
                  <a:srgbClr val="B9C3D6"/>
                </a:solidFill>
                <a:latin typeface="Aptos"/>
                <a:cs typeface="Aptos"/>
              </a:rPr>
              <a:t>Крупные выплаты могут проходить KYC/AML и комплаенс-блокировки до отправки.</a:t>
            </a:r>
            <a:endParaRPr lang="ru-RU" sz="1400"/>
          </a:p>
        </p:txBody>
      </p:sp>
      <p:sp>
        <p:nvSpPr>
          <p:cNvPr id="29" name="Text29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30" name="Text3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8</a:t>
            </a:r>
            <a:endParaRPr lang="ru-RU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64008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200" b="1">
                <a:solidFill>
                  <a:srgbClr val="FFFFFF"/>
                </a:solidFill>
                <a:latin typeface="Aptos"/>
                <a:cs typeface="Aptos"/>
              </a:rPr>
              <a:t>Безопасность и доверие</a:t>
            </a:r>
            <a:endParaRPr lang="ru-RU" sz="3200"/>
          </a:p>
        </p:txBody>
      </p:sp>
      <p:sp>
        <p:nvSpPr>
          <p:cNvPr id="3" name="Shape3"/>
          <p:cNvSpPr/>
          <p:nvPr/>
        </p:nvSpPr>
        <p:spPr>
          <a:xfrm>
            <a:off x="731520" y="1691640"/>
            <a:ext cx="2743200" cy="160718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4" name="Shape4"/>
          <p:cNvSpPr/>
          <p:nvPr/>
        </p:nvSpPr>
        <p:spPr>
          <a:xfrm>
            <a:off x="896112" y="1856232"/>
            <a:ext cx="73152" cy="81381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5" name="Text5"/>
          <p:cNvSpPr txBox="1"/>
          <p:nvPr/>
        </p:nvSpPr>
        <p:spPr>
          <a:xfrm>
            <a:off x="1078992" y="189280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Смарт-контракты</a:t>
            </a:r>
            <a:endParaRPr lang="ru-RU" sz="1700"/>
          </a:p>
        </p:txBody>
      </p:sp>
      <p:sp>
        <p:nvSpPr>
          <p:cNvPr id="6" name="Text6"/>
          <p:cNvSpPr txBox="1"/>
          <p:nvPr/>
        </p:nvSpPr>
        <p:spPr>
          <a:xfrm>
            <a:off x="1078992" y="235000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Инвариантные тесты, fuzz-тесты, статический анализ и внешний аудит.</a:t>
            </a:r>
            <a:endParaRPr lang="ru-RU" sz="1200"/>
          </a:p>
        </p:txBody>
      </p:sp>
      <p:sp>
        <p:nvSpPr>
          <p:cNvPr id="7" name="Shape7"/>
          <p:cNvSpPr/>
          <p:nvPr/>
        </p:nvSpPr>
        <p:spPr>
          <a:xfrm>
            <a:off x="3703320" y="1691640"/>
            <a:ext cx="2743200" cy="161226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8" name="Shape8"/>
          <p:cNvSpPr/>
          <p:nvPr/>
        </p:nvSpPr>
        <p:spPr>
          <a:xfrm>
            <a:off x="3867912" y="1856232"/>
            <a:ext cx="73152" cy="81381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4050792" y="189280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Ключи и роли</a:t>
            </a:r>
            <a:endParaRPr lang="ru-RU" sz="1700"/>
          </a:p>
        </p:txBody>
      </p:sp>
      <p:sp>
        <p:nvSpPr>
          <p:cNvPr id="10" name="Text10"/>
          <p:cNvSpPr txBox="1"/>
          <p:nvPr/>
        </p:nvSpPr>
        <p:spPr>
          <a:xfrm>
            <a:off x="4050792" y="235000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Мультиподпись, разделение ключей, аварийная пауза и журнал действий.</a:t>
            </a:r>
            <a:endParaRPr lang="ru-RU" sz="1200"/>
          </a:p>
        </p:txBody>
      </p:sp>
      <p:sp>
        <p:nvSpPr>
          <p:cNvPr id="11" name="Shape11"/>
          <p:cNvSpPr/>
          <p:nvPr/>
        </p:nvSpPr>
        <p:spPr>
          <a:xfrm>
            <a:off x="6675120" y="1691640"/>
            <a:ext cx="2743200" cy="159575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2" name="Shape12"/>
          <p:cNvSpPr/>
          <p:nvPr/>
        </p:nvSpPr>
        <p:spPr>
          <a:xfrm>
            <a:off x="6839712" y="1856232"/>
            <a:ext cx="73152" cy="81381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7022592" y="189280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Данные результатов</a:t>
            </a:r>
            <a:endParaRPr lang="ru-RU" sz="1700"/>
          </a:p>
        </p:txBody>
      </p:sp>
      <p:sp>
        <p:nvSpPr>
          <p:cNvPr id="14" name="Text14"/>
          <p:cNvSpPr txBox="1"/>
          <p:nvPr/>
        </p:nvSpPr>
        <p:spPr>
          <a:xfrm>
            <a:off x="7022592" y="235000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3 источника, обнаружение расхождений, манифест и окно апелляции.</a:t>
            </a:r>
            <a:endParaRPr lang="ru-RU" sz="1200"/>
          </a:p>
        </p:txBody>
      </p:sp>
      <p:sp>
        <p:nvSpPr>
          <p:cNvPr id="15" name="Shape15"/>
          <p:cNvSpPr/>
          <p:nvPr/>
        </p:nvSpPr>
        <p:spPr>
          <a:xfrm>
            <a:off x="9646920" y="1691640"/>
            <a:ext cx="1828800" cy="161607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6" name="Shape16"/>
          <p:cNvSpPr/>
          <p:nvPr/>
        </p:nvSpPr>
        <p:spPr>
          <a:xfrm>
            <a:off x="9811512" y="1856232"/>
            <a:ext cx="73152" cy="81381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9994392" y="189280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Запуск</a:t>
            </a:r>
            <a:endParaRPr lang="ru-RU" sz="1700"/>
          </a:p>
        </p:txBody>
      </p:sp>
      <p:sp>
        <p:nvSpPr>
          <p:cNvPr id="18" name="Text18"/>
          <p:cNvSpPr txBox="1"/>
          <p:nvPr/>
        </p:nvSpPr>
        <p:spPr>
          <a:xfrm>
            <a:off x="9994392" y="2350008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Mainnet только после контрольного порога безопасности.</a:t>
            </a:r>
            <a:endParaRPr lang="ru-RU" sz="1200"/>
          </a:p>
        </p:txBody>
      </p:sp>
      <p:sp>
        <p:nvSpPr>
          <p:cNvPr id="19" name="Shape19"/>
          <p:cNvSpPr/>
          <p:nvPr/>
        </p:nvSpPr>
        <p:spPr>
          <a:xfrm>
            <a:off x="868680" y="3703320"/>
            <a:ext cx="10378440" cy="1508760"/>
          </a:xfrm>
          <a:prstGeom prst="roundRect">
            <a:avLst/>
          </a:prstGeom>
          <a:solidFill>
            <a:srgbClr val="101C31"/>
          </a:solidFill>
          <a:ln w="10000">
            <a:solidFill>
              <a:srgbClr val="263650"/>
            </a:solidFill>
          </a:ln>
        </p:spPr>
      </p:sp>
      <p:sp>
        <p:nvSpPr>
          <p:cNvPr id="20" name="Text20"/>
          <p:cNvSpPr txBox="1"/>
          <p:nvPr/>
        </p:nvSpPr>
        <p:spPr>
          <a:xfrm>
            <a:off x="1234440" y="3977640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000" b="1">
                <a:solidFill>
                  <a:srgbClr val="D7FF3F"/>
                </a:solidFill>
                <a:latin typeface="Aptos"/>
                <a:cs typeface="Aptos"/>
              </a:rPr>
              <a:t>Что защищаем в первую очередь</a:t>
            </a:r>
            <a:endParaRPr lang="ru-RU" sz="2000"/>
          </a:p>
        </p:txBody>
      </p:sp>
      <p:sp>
        <p:nvSpPr>
          <p:cNvPr id="21" name="Text21"/>
          <p:cNvSpPr txBox="1"/>
          <p:nvPr/>
        </p:nvSpPr>
        <p:spPr>
          <a:xfrm>
            <a:off x="1234440" y="4443984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>
                <a:solidFill>
                  <a:srgbClr val="FFFFFF"/>
                </a:solidFill>
                <a:latin typeface="Aptos"/>
                <a:cs typeface="Aptos"/>
              </a:rPr>
              <a:t>Пользовательские средства, корректность результата, невозможность двойной выплаты, восстановление после сбоев и юридическую чистоту запуска.</a:t>
            </a:r>
            <a:endParaRPr lang="ru-RU" sz="1700"/>
          </a:p>
        </p:txBody>
      </p:sp>
      <p:sp>
        <p:nvSpPr>
          <p:cNvPr id="22" name="Shape22"/>
          <p:cNvSpPr/>
          <p:nvPr/>
        </p:nvSpPr>
        <p:spPr>
          <a:xfrm>
            <a:off x="1828800" y="5577840"/>
            <a:ext cx="1828800" cy="384048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23" name="Text23"/>
          <p:cNvSpPr txBox="1"/>
          <p:nvPr/>
        </p:nvSpPr>
        <p:spPr>
          <a:xfrm>
            <a:off x="2011680" y="5687568"/>
            <a:ext cx="146304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08111F"/>
                </a:solidFill>
                <a:latin typeface="Aptos"/>
                <a:cs typeface="Aptos"/>
              </a:rPr>
              <a:t>Audit</a:t>
            </a:r>
            <a:endParaRPr lang="ru-RU" sz="900"/>
          </a:p>
        </p:txBody>
      </p:sp>
      <p:sp>
        <p:nvSpPr>
          <p:cNvPr id="24" name="Shape24"/>
          <p:cNvSpPr/>
          <p:nvPr/>
        </p:nvSpPr>
        <p:spPr>
          <a:xfrm>
            <a:off x="3977640" y="5577840"/>
            <a:ext cx="1828800" cy="384048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25" name="Text25"/>
          <p:cNvSpPr txBox="1"/>
          <p:nvPr/>
        </p:nvSpPr>
        <p:spPr>
          <a:xfrm>
            <a:off x="4160520" y="5687568"/>
            <a:ext cx="146304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08111F"/>
                </a:solidFill>
                <a:latin typeface="Aptos"/>
                <a:cs typeface="Aptos"/>
              </a:rPr>
              <a:t>Backup</a:t>
            </a:r>
            <a:endParaRPr lang="ru-RU" sz="900"/>
          </a:p>
        </p:txBody>
      </p:sp>
      <p:sp>
        <p:nvSpPr>
          <p:cNvPr id="26" name="Shape26"/>
          <p:cNvSpPr/>
          <p:nvPr/>
        </p:nvSpPr>
        <p:spPr>
          <a:xfrm>
            <a:off x="6126480" y="5577840"/>
            <a:ext cx="1828800" cy="384048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27" name="Text27"/>
          <p:cNvSpPr txBox="1"/>
          <p:nvPr/>
        </p:nvSpPr>
        <p:spPr>
          <a:xfrm>
            <a:off x="6309360" y="5687568"/>
            <a:ext cx="146304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08111F"/>
                </a:solidFill>
                <a:latin typeface="Aptos"/>
                <a:cs typeface="Aptos"/>
              </a:rPr>
              <a:t>KYC/AML</a:t>
            </a:r>
            <a:endParaRPr lang="ru-RU" sz="900"/>
          </a:p>
        </p:txBody>
      </p:sp>
      <p:sp>
        <p:nvSpPr>
          <p:cNvPr id="28" name="Shape28"/>
          <p:cNvSpPr/>
          <p:nvPr/>
        </p:nvSpPr>
        <p:spPr>
          <a:xfrm>
            <a:off x="8275320" y="5577840"/>
            <a:ext cx="1828800" cy="384048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</a:ln>
        </p:spPr>
      </p:sp>
      <p:sp>
        <p:nvSpPr>
          <p:cNvPr id="29" name="Text29"/>
          <p:cNvSpPr txBox="1"/>
          <p:nvPr/>
        </p:nvSpPr>
        <p:spPr>
          <a:xfrm>
            <a:off x="8458200" y="5687568"/>
            <a:ext cx="146304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 b="1">
                <a:solidFill>
                  <a:srgbClr val="FFFFFF"/>
                </a:solidFill>
                <a:latin typeface="Aptos"/>
                <a:cs typeface="Aptos"/>
              </a:rPr>
              <a:t>Runbooks</a:t>
            </a:r>
            <a:endParaRPr lang="ru-RU" sz="900"/>
          </a:p>
        </p:txBody>
      </p:sp>
      <p:sp>
        <p:nvSpPr>
          <p:cNvPr id="30" name="Text30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31" name="Text3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9</a:t>
            </a:r>
            <a:endParaRPr lang="ru-RU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6400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200" b="1">
                <a:solidFill>
                  <a:srgbClr val="FFFFFF"/>
                </a:solidFill>
                <a:latin typeface="Aptos"/>
                <a:cs typeface="Aptos"/>
              </a:rPr>
              <a:t>Партнерка и аналитика</a:t>
            </a:r>
            <a:endParaRPr lang="ru-RU" sz="3200"/>
          </a:p>
        </p:txBody>
      </p:sp>
      <p:sp>
        <p:nvSpPr>
          <p:cNvPr id="3" name="Text3"/>
          <p:cNvSpPr txBox="1"/>
          <p:nvPr/>
        </p:nvSpPr>
        <p:spPr>
          <a:xfrm>
            <a:off x="621792" y="1234440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B9C3D6"/>
                </a:solidFill>
                <a:latin typeface="Aptos"/>
                <a:cs typeface="Aptos"/>
              </a:rPr>
              <a:t>Рост подключается после ядра продукта: сначала атрибуция, затем кабинет и RevShare для проверенных партнеров.</a:t>
            </a:r>
            <a:endParaRPr lang="ru-RU" sz="1600"/>
          </a:p>
        </p:txBody>
      </p:sp>
      <p:sp>
        <p:nvSpPr>
          <p:cNvPr id="4" name="Shape4"/>
          <p:cNvSpPr/>
          <p:nvPr/>
        </p:nvSpPr>
        <p:spPr>
          <a:xfrm>
            <a:off x="777240" y="1828800"/>
            <a:ext cx="2926080" cy="121475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5" name="Shape5"/>
          <p:cNvSpPr/>
          <p:nvPr/>
        </p:nvSpPr>
        <p:spPr>
          <a:xfrm>
            <a:off x="941832" y="1993392"/>
            <a:ext cx="73152" cy="81381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6" name="Text6"/>
          <p:cNvSpPr txBox="1"/>
          <p:nvPr/>
        </p:nvSpPr>
        <p:spPr>
          <a:xfrm>
            <a:off x="1124712" y="202996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Минимальный старт</a:t>
            </a:r>
            <a:endParaRPr lang="ru-RU" sz="1700"/>
          </a:p>
        </p:txBody>
      </p:sp>
      <p:sp>
        <p:nvSpPr>
          <p:cNvPr id="7" name="Text7"/>
          <p:cNvSpPr txBox="1"/>
          <p:nvPr/>
        </p:nvSpPr>
        <p:spPr>
          <a:xfrm>
            <a:off x="1124712" y="2487168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UTM/ref-коды, CPA-атрибуция, защита от дублей и отчетность.</a:t>
            </a:r>
            <a:endParaRPr lang="ru-RU" sz="1200"/>
          </a:p>
        </p:txBody>
      </p:sp>
      <p:sp>
        <p:nvSpPr>
          <p:cNvPr id="8" name="Shape8"/>
          <p:cNvSpPr/>
          <p:nvPr/>
        </p:nvSpPr>
        <p:spPr>
          <a:xfrm>
            <a:off x="4160520" y="1828800"/>
            <a:ext cx="2926080" cy="121412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9" name="Shape9"/>
          <p:cNvSpPr/>
          <p:nvPr/>
        </p:nvSpPr>
        <p:spPr>
          <a:xfrm>
            <a:off x="4325112" y="1993392"/>
            <a:ext cx="73152" cy="81381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4507992" y="202996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Аналитика</a:t>
            </a:r>
            <a:endParaRPr lang="ru-RU" sz="1700"/>
          </a:p>
        </p:txBody>
      </p:sp>
      <p:sp>
        <p:nvSpPr>
          <p:cNvPr id="11" name="Text11"/>
          <p:cNvSpPr txBox="1"/>
          <p:nvPr/>
        </p:nvSpPr>
        <p:spPr>
          <a:xfrm>
            <a:off x="4507992" y="2487168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Воронка покупки, конверсия, средний чек, выплаты, удержание и риски.</a:t>
            </a:r>
            <a:endParaRPr lang="ru-RU" sz="1200"/>
          </a:p>
        </p:txBody>
      </p:sp>
      <p:sp>
        <p:nvSpPr>
          <p:cNvPr id="12" name="Shape12"/>
          <p:cNvSpPr/>
          <p:nvPr/>
        </p:nvSpPr>
        <p:spPr>
          <a:xfrm>
            <a:off x="7543800" y="1828800"/>
            <a:ext cx="2926080" cy="121475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3" name="Shape13"/>
          <p:cNvSpPr/>
          <p:nvPr/>
        </p:nvSpPr>
        <p:spPr>
          <a:xfrm>
            <a:off x="7708392" y="1993392"/>
            <a:ext cx="73152" cy="81381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14" name="Text14"/>
          <p:cNvSpPr txBox="1"/>
          <p:nvPr/>
        </p:nvSpPr>
        <p:spPr>
          <a:xfrm>
            <a:off x="7891272" y="202996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После MVP</a:t>
            </a:r>
            <a:endParaRPr lang="ru-RU" sz="1700"/>
          </a:p>
        </p:txBody>
      </p:sp>
      <p:sp>
        <p:nvSpPr>
          <p:cNvPr id="15" name="Text15"/>
          <p:cNvSpPr txBox="1"/>
          <p:nvPr/>
        </p:nvSpPr>
        <p:spPr>
          <a:xfrm>
            <a:off x="7891272" y="2487168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Кабинет партнера, RevShare, сегменты и расширенные отчеты.</a:t>
            </a:r>
            <a:endParaRPr lang="ru-RU" sz="1200"/>
          </a:p>
        </p:txBody>
      </p:sp>
      <p:sp>
        <p:nvSpPr>
          <p:cNvPr id="16" name="Shape16"/>
          <p:cNvSpPr/>
          <p:nvPr/>
        </p:nvSpPr>
        <p:spPr>
          <a:xfrm>
            <a:off x="914400" y="3886200"/>
            <a:ext cx="9966960" cy="1325880"/>
          </a:xfrm>
          <a:prstGeom prst="roundRect">
            <a:avLst/>
          </a:prstGeom>
          <a:solidFill>
            <a:srgbClr val="111A2E"/>
          </a:solidFill>
          <a:ln w="10000">
            <a:solidFill>
              <a:srgbClr val="263650"/>
            </a:solidFill>
          </a:ln>
        </p:spPr>
      </p:sp>
      <p:sp>
        <p:nvSpPr>
          <p:cNvPr id="17" name="Text17"/>
          <p:cNvSpPr txBox="1"/>
          <p:nvPr/>
        </p:nvSpPr>
        <p:spPr>
          <a:xfrm>
            <a:off x="1234440" y="4160520"/>
            <a:ext cx="9326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100" b="1">
                <a:solidFill>
                  <a:srgbClr val="D7FF3F"/>
                </a:solidFill>
                <a:latin typeface="Aptos"/>
                <a:cs typeface="Aptos"/>
              </a:rPr>
              <a:t>Принцип</a:t>
            </a:r>
            <a:endParaRPr lang="ru-RU" sz="2100"/>
          </a:p>
        </p:txBody>
      </p:sp>
      <p:sp>
        <p:nvSpPr>
          <p:cNvPr id="18" name="Text18"/>
          <p:cNvSpPr txBox="1"/>
          <p:nvPr/>
        </p:nvSpPr>
        <p:spPr>
          <a:xfrm>
            <a:off x="1234440" y="4617720"/>
            <a:ext cx="9326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>
                <a:solidFill>
                  <a:srgbClr val="FFFFFF"/>
                </a:solidFill>
                <a:latin typeface="Aptos"/>
                <a:cs typeface="Aptos"/>
              </a:rPr>
              <a:t>Партнерка не должна опережать безопасность, выплаты и финансовую модель продукта.</a:t>
            </a:r>
            <a:endParaRPr lang="ru-RU" sz="1700"/>
          </a:p>
        </p:txBody>
      </p:sp>
      <p:sp>
        <p:nvSpPr>
          <p:cNvPr id="19" name="Text19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20" name="Text2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10</a:t>
            </a:r>
            <a:endParaRPr lang="ru-RU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64008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200" b="1">
                <a:solidFill>
                  <a:srgbClr val="FFFFFF"/>
                </a:solidFill>
                <a:latin typeface="Aptos"/>
                <a:cs typeface="Aptos"/>
              </a:rPr>
              <a:t>Дорожная карта разработки</a:t>
            </a:r>
            <a:endParaRPr lang="ru-RU" sz="3200"/>
          </a:p>
        </p:txBody>
      </p:sp>
      <p:sp>
        <p:nvSpPr>
          <p:cNvPr id="3" name="Text3"/>
          <p:cNvSpPr txBox="1"/>
          <p:nvPr/>
        </p:nvSpPr>
        <p:spPr>
          <a:xfrm>
            <a:off x="621792" y="1234440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B9C3D6"/>
                </a:solidFill>
                <a:latin typeface="Aptos"/>
                <a:cs typeface="Aptos"/>
              </a:rPr>
              <a:t>Сначала безопасный Суперэкспресс 15, затем автоматизация, партнерка, география и токен-направление.</a:t>
            </a:r>
            <a:endParaRPr lang="ru-RU" sz="1600"/>
          </a:p>
        </p:txBody>
      </p:sp>
      <p:sp>
        <p:nvSpPr>
          <p:cNvPr id="4" name="Shape4"/>
          <p:cNvSpPr/>
          <p:nvPr/>
        </p:nvSpPr>
        <p:spPr>
          <a:xfrm>
            <a:off x="914400" y="2194560"/>
            <a:ext cx="9875520" cy="128016"/>
          </a:xfrm>
          <a:prstGeom prst="roundRect">
            <a:avLst/>
          </a:prstGeom>
          <a:solidFill>
            <a:srgbClr val="263650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914400" y="2121408"/>
            <a:ext cx="274320" cy="274320"/>
          </a:xfrm>
          <a:prstGeom prst="ellipse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6" name="Text6"/>
          <p:cNvSpPr txBox="1"/>
          <p:nvPr/>
        </p:nvSpPr>
        <p:spPr>
          <a:xfrm>
            <a:off x="685800" y="2606040"/>
            <a:ext cx="1143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D7FF3F"/>
                </a:solidFill>
                <a:latin typeface="Aptos"/>
                <a:cs typeface="Aptos"/>
              </a:rPr>
              <a:t>0</a:t>
            </a:r>
            <a:endParaRPr lang="ru-RU" sz="1800"/>
          </a:p>
          <a:p>
            <a:pPr algn="l"/>
            <a:r>
              <a:rPr lang="ru-RU" sz="900">
                <a:solidFill>
                  <a:srgbClr val="B9C3D6"/>
                </a:solidFill>
                <a:latin typeface="Aptos"/>
                <a:cs typeface="Aptos"/>
              </a:rPr>
              <a:t>Архитектура</a:t>
            </a:r>
            <a:endParaRPr lang="ru-RU" sz="900"/>
          </a:p>
        </p:txBody>
      </p:sp>
      <p:sp>
        <p:nvSpPr>
          <p:cNvPr id="7" name="Shape7"/>
          <p:cNvSpPr/>
          <p:nvPr/>
        </p:nvSpPr>
        <p:spPr>
          <a:xfrm>
            <a:off x="2057400" y="2121408"/>
            <a:ext cx="274320" cy="274320"/>
          </a:xfrm>
          <a:prstGeom prst="ellipse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8" name="Text8"/>
          <p:cNvSpPr txBox="1"/>
          <p:nvPr/>
        </p:nvSpPr>
        <p:spPr>
          <a:xfrm>
            <a:off x="1783080" y="260604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37D6FF"/>
                </a:solidFill>
                <a:latin typeface="Aptos"/>
                <a:cs typeface="Aptos"/>
              </a:rPr>
              <a:t>1-2</a:t>
            </a:r>
            <a:endParaRPr lang="ru-RU" sz="1800"/>
          </a:p>
          <a:p>
            <a:pPr algn="l"/>
            <a:r>
              <a:rPr lang="ru-RU" sz="900">
                <a:solidFill>
                  <a:srgbClr val="B9C3D6"/>
                </a:solidFill>
                <a:latin typeface="Aptos"/>
                <a:cs typeface="Aptos"/>
              </a:rPr>
              <a:t>Контракты и сервер</a:t>
            </a:r>
            <a:endParaRPr lang="ru-RU" sz="900"/>
          </a:p>
        </p:txBody>
      </p:sp>
      <p:sp>
        <p:nvSpPr>
          <p:cNvPr id="9" name="Shape9"/>
          <p:cNvSpPr/>
          <p:nvPr/>
        </p:nvSpPr>
        <p:spPr>
          <a:xfrm>
            <a:off x="3429000" y="2121408"/>
            <a:ext cx="274320" cy="274320"/>
          </a:xfrm>
          <a:prstGeom prst="ellipse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3154680" y="260604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37D6FF"/>
                </a:solidFill>
                <a:latin typeface="Aptos"/>
                <a:cs typeface="Aptos"/>
              </a:rPr>
              <a:t>3-5</a:t>
            </a:r>
            <a:endParaRPr lang="ru-RU" sz="1800"/>
          </a:p>
          <a:p>
            <a:pPr algn="l"/>
            <a:r>
              <a:rPr lang="ru-RU" sz="900">
                <a:solidFill>
                  <a:srgbClr val="B9C3D6"/>
                </a:solidFill>
                <a:latin typeface="Aptos"/>
                <a:cs typeface="Aptos"/>
              </a:rPr>
              <a:t>Оракул и выплаты</a:t>
            </a:r>
            <a:endParaRPr lang="ru-RU" sz="900"/>
          </a:p>
        </p:txBody>
      </p:sp>
      <p:sp>
        <p:nvSpPr>
          <p:cNvPr id="11" name="Shape11"/>
          <p:cNvSpPr/>
          <p:nvPr/>
        </p:nvSpPr>
        <p:spPr>
          <a:xfrm>
            <a:off x="4983480" y="2121408"/>
            <a:ext cx="274320" cy="274320"/>
          </a:xfrm>
          <a:prstGeom prst="ellipse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2" name="Text12"/>
          <p:cNvSpPr txBox="1"/>
          <p:nvPr/>
        </p:nvSpPr>
        <p:spPr>
          <a:xfrm>
            <a:off x="4663440" y="26060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D7FF3F"/>
                </a:solidFill>
                <a:latin typeface="Aptos"/>
                <a:cs typeface="Aptos"/>
              </a:rPr>
              <a:t>6-8</a:t>
            </a:r>
            <a:endParaRPr lang="ru-RU" sz="1800"/>
          </a:p>
          <a:p>
            <a:pPr algn="l"/>
            <a:r>
              <a:rPr lang="ru-RU" sz="900">
                <a:solidFill>
                  <a:srgbClr val="B9C3D6"/>
                </a:solidFill>
                <a:latin typeface="Aptos"/>
                <a:cs typeface="Aptos"/>
              </a:rPr>
              <a:t>UI, админка, эксплуатация</a:t>
            </a:r>
            <a:endParaRPr lang="ru-RU" sz="900"/>
          </a:p>
        </p:txBody>
      </p:sp>
      <p:sp>
        <p:nvSpPr>
          <p:cNvPr id="13" name="Shape13"/>
          <p:cNvSpPr/>
          <p:nvPr/>
        </p:nvSpPr>
        <p:spPr>
          <a:xfrm>
            <a:off x="6812280" y="2121408"/>
            <a:ext cx="274320" cy="274320"/>
          </a:xfrm>
          <a:prstGeom prst="ellipse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14" name="Text14"/>
          <p:cNvSpPr txBox="1"/>
          <p:nvPr/>
        </p:nvSpPr>
        <p:spPr>
          <a:xfrm>
            <a:off x="6492240" y="26060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FF7A59"/>
                </a:solidFill>
                <a:latin typeface="Aptos"/>
                <a:cs typeface="Aptos"/>
              </a:rPr>
              <a:t>9</a:t>
            </a:r>
            <a:endParaRPr lang="ru-RU" sz="1800"/>
          </a:p>
          <a:p>
            <a:pPr algn="l"/>
            <a:r>
              <a:rPr lang="ru-RU" sz="900">
                <a:solidFill>
                  <a:srgbClr val="B9C3D6"/>
                </a:solidFill>
                <a:latin typeface="Aptos"/>
                <a:cs typeface="Aptos"/>
              </a:rPr>
              <a:t>Аудит и безопасность</a:t>
            </a:r>
            <a:endParaRPr lang="ru-RU" sz="900"/>
          </a:p>
        </p:txBody>
      </p:sp>
      <p:sp>
        <p:nvSpPr>
          <p:cNvPr id="15" name="Shape15"/>
          <p:cNvSpPr/>
          <p:nvPr/>
        </p:nvSpPr>
        <p:spPr>
          <a:xfrm>
            <a:off x="8458200" y="2121408"/>
            <a:ext cx="274320" cy="274320"/>
          </a:xfrm>
          <a:prstGeom prst="ellipse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16" name="Text16"/>
          <p:cNvSpPr txBox="1"/>
          <p:nvPr/>
        </p:nvSpPr>
        <p:spPr>
          <a:xfrm>
            <a:off x="8138160" y="26060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D7FF3F"/>
                </a:solidFill>
                <a:latin typeface="Aptos"/>
                <a:cs typeface="Aptos"/>
              </a:rPr>
              <a:t>10</a:t>
            </a:r>
            <a:endParaRPr lang="ru-RU" sz="1800"/>
          </a:p>
          <a:p>
            <a:pPr algn="l"/>
            <a:r>
              <a:rPr lang="ru-RU" sz="900">
                <a:solidFill>
                  <a:srgbClr val="B9C3D6"/>
                </a:solidFill>
                <a:latin typeface="Aptos"/>
                <a:cs typeface="Aptos"/>
              </a:rPr>
              <a:t>Ограниченный mainnet</a:t>
            </a:r>
            <a:endParaRPr lang="ru-RU" sz="900"/>
          </a:p>
        </p:txBody>
      </p:sp>
      <p:sp>
        <p:nvSpPr>
          <p:cNvPr id="17" name="Shape17"/>
          <p:cNvSpPr/>
          <p:nvPr/>
        </p:nvSpPr>
        <p:spPr>
          <a:xfrm>
            <a:off x="10469880" y="2121408"/>
            <a:ext cx="274320" cy="2743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50000"/>
              </a:srgbClr>
            </a:solidFill>
          </a:ln>
        </p:spPr>
      </p:sp>
      <p:sp>
        <p:nvSpPr>
          <p:cNvPr id="18" name="Text18"/>
          <p:cNvSpPr txBox="1"/>
          <p:nvPr/>
        </p:nvSpPr>
        <p:spPr>
          <a:xfrm>
            <a:off x="10058400" y="26060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FFFFFF"/>
                </a:solidFill>
                <a:latin typeface="Aptos"/>
                <a:cs typeface="Aptos"/>
              </a:rPr>
              <a:t>+</a:t>
            </a:r>
            <a:endParaRPr lang="ru-RU" sz="1800"/>
          </a:p>
          <a:p>
            <a:pPr algn="l"/>
            <a:r>
              <a:rPr lang="ru-RU" sz="900">
                <a:solidFill>
                  <a:srgbClr val="B9C3D6"/>
                </a:solidFill>
                <a:latin typeface="Aptos"/>
                <a:cs typeface="Aptos"/>
              </a:rPr>
              <a:t>Расширение после MVP</a:t>
            </a:r>
            <a:endParaRPr lang="ru-RU" sz="900"/>
          </a:p>
        </p:txBody>
      </p:sp>
      <p:sp>
        <p:nvSpPr>
          <p:cNvPr id="19" name="Shape19"/>
          <p:cNvSpPr/>
          <p:nvPr/>
        </p:nvSpPr>
        <p:spPr>
          <a:xfrm>
            <a:off x="914400" y="4160520"/>
            <a:ext cx="2971800" cy="108394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20" name="Shape20"/>
          <p:cNvSpPr/>
          <p:nvPr/>
        </p:nvSpPr>
        <p:spPr>
          <a:xfrm>
            <a:off x="1078992" y="4325112"/>
            <a:ext cx="73152" cy="58521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21" name="Text21"/>
          <p:cNvSpPr txBox="1"/>
          <p:nvPr/>
        </p:nvSpPr>
        <p:spPr>
          <a:xfrm>
            <a:off x="1261872" y="436168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4-6 месяцев</a:t>
            </a:r>
            <a:endParaRPr lang="ru-RU" sz="1700"/>
          </a:p>
        </p:txBody>
      </p:sp>
      <p:sp>
        <p:nvSpPr>
          <p:cNvPr id="22" name="Text22"/>
          <p:cNvSpPr txBox="1"/>
          <p:nvPr/>
        </p:nvSpPr>
        <p:spPr>
          <a:xfrm>
            <a:off x="1261872" y="4818888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Ориентир до MVP, готового к тестовой сети.</a:t>
            </a:r>
            <a:endParaRPr lang="ru-RU" sz="1200"/>
          </a:p>
        </p:txBody>
      </p:sp>
      <p:sp>
        <p:nvSpPr>
          <p:cNvPr id="23" name="Shape23"/>
          <p:cNvSpPr/>
          <p:nvPr/>
        </p:nvSpPr>
        <p:spPr>
          <a:xfrm>
            <a:off x="4526280" y="4160520"/>
            <a:ext cx="2971800" cy="108394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24" name="Shape24"/>
          <p:cNvSpPr/>
          <p:nvPr/>
        </p:nvSpPr>
        <p:spPr>
          <a:xfrm>
            <a:off x="4690872" y="4325112"/>
            <a:ext cx="73152" cy="58521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25" name="Text25"/>
          <p:cNvSpPr txBox="1"/>
          <p:nvPr/>
        </p:nvSpPr>
        <p:spPr>
          <a:xfrm>
            <a:off x="4873752" y="436168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6-9 месяцев</a:t>
            </a:r>
            <a:endParaRPr lang="ru-RU" sz="1700"/>
          </a:p>
        </p:txBody>
      </p:sp>
      <p:sp>
        <p:nvSpPr>
          <p:cNvPr id="26" name="Text26"/>
          <p:cNvSpPr txBox="1"/>
          <p:nvPr/>
        </p:nvSpPr>
        <p:spPr>
          <a:xfrm>
            <a:off x="4873752" y="4818888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Ориентир до ограниченного запуска в mainnet.</a:t>
            </a:r>
            <a:endParaRPr lang="ru-RU" sz="1200"/>
          </a:p>
        </p:txBody>
      </p:sp>
      <p:sp>
        <p:nvSpPr>
          <p:cNvPr id="27" name="Shape27"/>
          <p:cNvSpPr/>
          <p:nvPr/>
        </p:nvSpPr>
        <p:spPr>
          <a:xfrm>
            <a:off x="8138160" y="4160520"/>
            <a:ext cx="2971800" cy="1083945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28" name="Shape28"/>
          <p:cNvSpPr/>
          <p:nvPr/>
        </p:nvSpPr>
        <p:spPr>
          <a:xfrm>
            <a:off x="8302752" y="4325112"/>
            <a:ext cx="73152" cy="58521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29" name="Text29"/>
          <p:cNvSpPr txBox="1"/>
          <p:nvPr/>
        </p:nvSpPr>
        <p:spPr>
          <a:xfrm>
            <a:off x="8485632" y="436168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2-4 недели</a:t>
            </a:r>
            <a:endParaRPr lang="ru-RU" sz="1700"/>
          </a:p>
        </p:txBody>
      </p:sp>
      <p:sp>
        <p:nvSpPr>
          <p:cNvPr id="30" name="Text30"/>
          <p:cNvSpPr txBox="1"/>
          <p:nvPr/>
        </p:nvSpPr>
        <p:spPr>
          <a:xfrm>
            <a:off x="8485632" y="4818888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Стабилизация после первого рабочего запуска.</a:t>
            </a:r>
            <a:endParaRPr lang="ru-RU" sz="1200"/>
          </a:p>
        </p:txBody>
      </p:sp>
      <p:sp>
        <p:nvSpPr>
          <p:cNvPr id="31" name="Text31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32" name="Text3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11</a:t>
            </a:r>
            <a:endParaRPr lang="ru-RU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2"/>
          <p:cNvSpPr txBox="1"/>
          <p:nvPr/>
        </p:nvSpPr>
        <p:spPr>
          <a:xfrm>
            <a:off x="594360" y="64008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200" b="1">
                <a:solidFill>
                  <a:srgbClr val="FFFFFF"/>
                </a:solidFill>
                <a:latin typeface="Aptos"/>
                <a:cs typeface="Aptos"/>
              </a:rPr>
              <a:t>MVP и развитие после MVP</a:t>
            </a:r>
            <a:endParaRPr lang="ru-RU" sz="3200"/>
          </a:p>
        </p:txBody>
      </p:sp>
      <p:sp>
        <p:nvSpPr>
          <p:cNvPr id="3" name="Shape3"/>
          <p:cNvSpPr/>
          <p:nvPr/>
        </p:nvSpPr>
        <p:spPr>
          <a:xfrm>
            <a:off x="777240" y="1600200"/>
            <a:ext cx="5074920" cy="4069080"/>
          </a:xfrm>
          <a:prstGeom prst="roundRect">
            <a:avLst/>
          </a:prstGeom>
          <a:solidFill>
            <a:srgbClr val="101C31"/>
          </a:solidFill>
          <a:ln w="16000">
            <a:solidFill>
              <a:srgbClr val="D7FF3F"/>
            </a:solidFill>
          </a:ln>
        </p:spPr>
      </p:sp>
      <p:sp>
        <p:nvSpPr>
          <p:cNvPr id="4" name="Text4"/>
          <p:cNvSpPr txBox="1"/>
          <p:nvPr/>
        </p:nvSpPr>
        <p:spPr>
          <a:xfrm>
            <a:off x="1097280" y="1874520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 b="1">
                <a:solidFill>
                  <a:srgbClr val="D7FF3F"/>
                </a:solidFill>
                <a:latin typeface="Aptos"/>
                <a:cs typeface="Aptos"/>
              </a:rPr>
              <a:t>Входит в MVP</a:t>
            </a:r>
            <a:endParaRPr lang="ru-RU" sz="2200"/>
          </a:p>
        </p:txBody>
      </p:sp>
      <p:sp>
        <p:nvSpPr>
          <p:cNvPr id="5" name="Text5"/>
          <p:cNvSpPr txBox="1"/>
          <p:nvPr/>
        </p:nvSpPr>
        <p:spPr>
          <a:xfrm>
            <a:off x="1097280" y="2514600"/>
            <a:ext cx="434340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>
                <a:solidFill>
                  <a:srgbClr val="FFFFFF"/>
                </a:solidFill>
                <a:latin typeface="Aptos"/>
                <a:cs typeface="Aptos"/>
              </a:rPr>
              <a:t>• Суперэкспресс 15, футбол, Base + USDC</a:t>
            </a:r>
            <a:endParaRPr lang="ru-RU" sz="1400"/>
          </a:p>
          <a:p>
            <a:pPr algn="l"/>
            <a:r>
              <a:rPr lang="ru-RU" sz="1400">
                <a:solidFill>
                  <a:srgbClr val="FFFFFF"/>
                </a:solidFill>
                <a:latin typeface="Aptos"/>
                <a:cs typeface="Aptos"/>
              </a:rPr>
              <a:t>• Билеты, системные ставки и лимиты</a:t>
            </a:r>
            <a:endParaRPr lang="ru-RU" sz="1400"/>
          </a:p>
          <a:p>
            <a:pPr algn="l"/>
            <a:r>
              <a:rPr lang="ru-RU" sz="1400">
                <a:solidFill>
                  <a:srgbClr val="FFFFFF"/>
                </a:solidFill>
                <a:latin typeface="Aptos"/>
                <a:cs typeface="Aptos"/>
              </a:rPr>
              <a:t>• Оракул, манифест результатов и ручной резерв</a:t>
            </a:r>
            <a:endParaRPr lang="ru-RU" sz="1400"/>
          </a:p>
          <a:p>
            <a:pPr algn="l"/>
            <a:r>
              <a:rPr lang="ru-RU" sz="1400">
                <a:solidFill>
                  <a:srgbClr val="FFFFFF"/>
                </a:solidFill>
                <a:latin typeface="Aptos"/>
                <a:cs typeface="Aptos"/>
              </a:rPr>
              <a:t>• Merkle-выплаты и автоматический исполнитель</a:t>
            </a:r>
            <a:endParaRPr lang="ru-RU" sz="1400"/>
          </a:p>
          <a:p>
            <a:pPr algn="l"/>
            <a:r>
              <a:rPr lang="ru-RU" sz="1400">
                <a:solidFill>
                  <a:srgbClr val="FFFFFF"/>
                </a:solidFill>
                <a:latin typeface="Aptos"/>
                <a:cs typeface="Aptos"/>
              </a:rPr>
              <a:t>• Админ-панель, аудит, мониторинг и backup</a:t>
            </a:r>
            <a:endParaRPr lang="ru-RU" sz="1400"/>
          </a:p>
        </p:txBody>
      </p:sp>
      <p:sp>
        <p:nvSpPr>
          <p:cNvPr id="6" name="Shape6"/>
          <p:cNvSpPr/>
          <p:nvPr/>
        </p:nvSpPr>
        <p:spPr>
          <a:xfrm>
            <a:off x="6355080" y="1600200"/>
            <a:ext cx="5074920" cy="4069080"/>
          </a:xfrm>
          <a:prstGeom prst="roundRect">
            <a:avLst/>
          </a:prstGeom>
          <a:solidFill>
            <a:srgbClr val="101C31"/>
          </a:solidFill>
          <a:ln w="16000">
            <a:solidFill>
              <a:srgbClr val="FF7A59"/>
            </a:solidFill>
          </a:ln>
        </p:spPr>
      </p:sp>
      <p:sp>
        <p:nvSpPr>
          <p:cNvPr id="7" name="Text7"/>
          <p:cNvSpPr txBox="1"/>
          <p:nvPr/>
        </p:nvSpPr>
        <p:spPr>
          <a:xfrm>
            <a:off x="6675120" y="1874520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 b="1">
                <a:solidFill>
                  <a:srgbClr val="FF7A59"/>
                </a:solidFill>
                <a:latin typeface="Aptos"/>
                <a:cs typeface="Aptos"/>
              </a:rPr>
              <a:t>После MVP</a:t>
            </a:r>
            <a:endParaRPr lang="ru-RU" sz="2200"/>
          </a:p>
        </p:txBody>
      </p:sp>
      <p:sp>
        <p:nvSpPr>
          <p:cNvPr id="8" name="Text8"/>
          <p:cNvSpPr txBox="1"/>
          <p:nvPr/>
        </p:nvSpPr>
        <p:spPr>
          <a:xfrm>
            <a:off x="6675120" y="2514600"/>
            <a:ext cx="434340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>
                <a:solidFill>
                  <a:srgbClr val="FFFFFF"/>
                </a:solidFill>
                <a:latin typeface="Aptos"/>
                <a:cs typeface="Aptos"/>
              </a:rPr>
              <a:t>• Мегаэкспресс 16</a:t>
            </a:r>
            <a:endParaRPr lang="ru-RU" sz="1400"/>
          </a:p>
          <a:p>
            <a:pPr algn="l"/>
            <a:r>
              <a:rPr lang="ru-RU" sz="1400">
                <a:solidFill>
                  <a:srgbClr val="FFFFFF"/>
                </a:solidFill>
                <a:latin typeface="Aptos"/>
                <a:cs typeface="Aptos"/>
              </a:rPr>
              <a:t>• Chainlink CRE и больше автономности</a:t>
            </a:r>
            <a:endParaRPr lang="ru-RU" sz="1400"/>
          </a:p>
          <a:p>
            <a:pPr algn="l"/>
            <a:r>
              <a:rPr lang="ru-RU" sz="1400">
                <a:solidFill>
                  <a:srgbClr val="FFFFFF"/>
                </a:solidFill>
                <a:latin typeface="Aptos"/>
                <a:cs typeface="Aptos"/>
              </a:rPr>
              <a:t>• Партнерский кабинет и RevShare</a:t>
            </a:r>
            <a:endParaRPr lang="ru-RU" sz="1400"/>
          </a:p>
          <a:p>
            <a:pPr algn="l"/>
            <a:r>
              <a:rPr lang="ru-RU" sz="1400">
                <a:solidFill>
                  <a:srgbClr val="FFFFFF"/>
                </a:solidFill>
                <a:latin typeface="Aptos"/>
                <a:cs typeface="Aptos"/>
              </a:rPr>
              <a:t>• Новые страны, языки и режим высоких ставок</a:t>
            </a:r>
            <a:endParaRPr lang="ru-RU" sz="1400"/>
          </a:p>
          <a:p>
            <a:pPr algn="l"/>
            <a:r>
              <a:rPr lang="ru-RU" sz="1400">
                <a:solidFill>
                  <a:srgbClr val="FFFFFF"/>
                </a:solidFill>
                <a:latin typeface="Aptos"/>
                <a:cs typeface="Aptos"/>
              </a:rPr>
              <a:t>• DEX/listing/token как отдельный стратегический этап</a:t>
            </a:r>
            <a:endParaRPr lang="ru-RU" sz="1400"/>
          </a:p>
        </p:txBody>
      </p:sp>
      <p:sp>
        <p:nvSpPr>
          <p:cNvPr id="9" name="Text9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10" name="Text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12</a:t>
            </a:r>
            <a:endParaRPr lang="ru-RU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2"/>
          <p:cNvSpPr/>
          <p:nvPr/>
        </p:nvSpPr>
        <p:spPr>
          <a:xfrm>
            <a:off x="-182880" y="-91440"/>
            <a:ext cx="12618720" cy="7132320"/>
          </a:xfrm>
          <a:prstGeom prst="rect">
            <a:avLst/>
          </a:prstGeom>
          <a:solidFill>
            <a:srgbClr val="08111F"/>
          </a:solidFill>
          <a:ln>
            <a:noFill/>
          </a:ln>
        </p:spPr>
      </p:sp>
      <p:sp>
        <p:nvSpPr>
          <p:cNvPr id="3" name="Shape3"/>
          <p:cNvSpPr/>
          <p:nvPr/>
        </p:nvSpPr>
        <p:spPr>
          <a:xfrm>
            <a:off x="640080" y="777240"/>
            <a:ext cx="10881360" cy="4892040"/>
          </a:xfrm>
          <a:prstGeom prst="roundRect">
            <a:avLst/>
          </a:prstGeom>
          <a:solidFill>
            <a:srgbClr val="101C31"/>
          </a:solidFill>
          <a:ln w="16000">
            <a:solidFill>
              <a:srgbClr val="D7FF3F"/>
            </a:solidFill>
          </a:ln>
        </p:spPr>
      </p:sp>
      <p:sp>
        <p:nvSpPr>
          <p:cNvPr id="4" name="Text4"/>
          <p:cNvSpPr txBox="1"/>
          <p:nvPr/>
        </p:nvSpPr>
        <p:spPr>
          <a:xfrm>
            <a:off x="1051560" y="123444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400" b="1">
                <a:solidFill>
                  <a:srgbClr val="FFFFFF"/>
                </a:solidFill>
                <a:latin typeface="Aptos"/>
                <a:cs typeface="Aptos"/>
              </a:rPr>
              <a:t>Что нужно утвердить дальше</a:t>
            </a:r>
            <a:endParaRPr lang="ru-RU" sz="3400"/>
          </a:p>
        </p:txBody>
      </p:sp>
      <p:sp>
        <p:nvSpPr>
          <p:cNvPr id="5" name="Text5"/>
          <p:cNvSpPr txBox="1"/>
          <p:nvPr/>
        </p:nvSpPr>
        <p:spPr>
          <a:xfrm>
            <a:off x="1234440" y="205740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900">
                <a:solidFill>
                  <a:srgbClr val="B9C3D6"/>
                </a:solidFill>
                <a:latin typeface="Aptos"/>
                <a:cs typeface="Aptos"/>
              </a:rPr>
              <a:t>Команда, бюджет, страны запуска, аудитор, серверный стек и дата первого рабочего запуска.</a:t>
            </a:r>
            <a:endParaRPr lang="ru-RU" sz="1900"/>
          </a:p>
        </p:txBody>
      </p:sp>
      <p:sp>
        <p:nvSpPr>
          <p:cNvPr id="6" name="Shape6"/>
          <p:cNvSpPr/>
          <p:nvPr/>
        </p:nvSpPr>
        <p:spPr>
          <a:xfrm>
            <a:off x="1234440" y="3063240"/>
            <a:ext cx="2331720" cy="109728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7" name="Shape7"/>
          <p:cNvSpPr/>
          <p:nvPr/>
        </p:nvSpPr>
        <p:spPr>
          <a:xfrm>
            <a:off x="1399032" y="3227832"/>
            <a:ext cx="73152" cy="76809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8" name="Text8"/>
          <p:cNvSpPr txBox="1"/>
          <p:nvPr/>
        </p:nvSpPr>
        <p:spPr>
          <a:xfrm>
            <a:off x="1581912" y="32644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Команда</a:t>
            </a:r>
            <a:endParaRPr lang="ru-RU" sz="1700"/>
          </a:p>
        </p:txBody>
      </p:sp>
      <p:sp>
        <p:nvSpPr>
          <p:cNvPr id="9" name="Text9"/>
          <p:cNvSpPr txBox="1"/>
          <p:nvPr/>
        </p:nvSpPr>
        <p:spPr>
          <a:xfrm>
            <a:off x="1581912" y="37216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Роли и ответственные за запуск.</a:t>
            </a:r>
            <a:endParaRPr lang="ru-RU" sz="1200"/>
          </a:p>
        </p:txBody>
      </p:sp>
      <p:sp>
        <p:nvSpPr>
          <p:cNvPr id="10" name="Shape10"/>
          <p:cNvSpPr/>
          <p:nvPr/>
        </p:nvSpPr>
        <p:spPr>
          <a:xfrm>
            <a:off x="3703320" y="3063240"/>
            <a:ext cx="2331720" cy="109728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1" name="Shape11"/>
          <p:cNvSpPr/>
          <p:nvPr/>
        </p:nvSpPr>
        <p:spPr>
          <a:xfrm>
            <a:off x="3867912" y="3227832"/>
            <a:ext cx="73152" cy="768096"/>
          </a:xfrm>
          <a:prstGeom prst="roundRect">
            <a:avLst/>
          </a:prstGeom>
          <a:solidFill>
            <a:srgbClr val="37D6FF"/>
          </a:solidFill>
          <a:ln>
            <a:noFill/>
          </a:ln>
        </p:spPr>
      </p:sp>
      <p:sp>
        <p:nvSpPr>
          <p:cNvPr id="12" name="Text12"/>
          <p:cNvSpPr txBox="1"/>
          <p:nvPr/>
        </p:nvSpPr>
        <p:spPr>
          <a:xfrm>
            <a:off x="4050665" y="3103245"/>
            <a:ext cx="18288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Юридический контур</a:t>
            </a:r>
            <a:endParaRPr lang="ru-RU" sz="1700"/>
          </a:p>
        </p:txBody>
      </p:sp>
      <p:sp>
        <p:nvSpPr>
          <p:cNvPr id="13" name="Text13"/>
          <p:cNvSpPr txBox="1"/>
          <p:nvPr/>
        </p:nvSpPr>
        <p:spPr>
          <a:xfrm>
            <a:off x="4050792" y="37216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Страны, KYC/AML и ограничения.</a:t>
            </a:r>
            <a:endParaRPr lang="ru-RU" sz="1200"/>
          </a:p>
        </p:txBody>
      </p:sp>
      <p:sp>
        <p:nvSpPr>
          <p:cNvPr id="14" name="Shape14"/>
          <p:cNvSpPr/>
          <p:nvPr/>
        </p:nvSpPr>
        <p:spPr>
          <a:xfrm>
            <a:off x="6172200" y="3063240"/>
            <a:ext cx="2331720" cy="109728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5" name="Shape15"/>
          <p:cNvSpPr/>
          <p:nvPr/>
        </p:nvSpPr>
        <p:spPr>
          <a:xfrm>
            <a:off x="6336792" y="3227832"/>
            <a:ext cx="73152" cy="768096"/>
          </a:xfrm>
          <a:prstGeom prst="roundRect">
            <a:avLst/>
          </a:prstGeom>
          <a:solidFill>
            <a:srgbClr val="FF7A59"/>
          </a:solidFill>
          <a:ln>
            <a:noFill/>
          </a:ln>
        </p:spPr>
      </p:sp>
      <p:sp>
        <p:nvSpPr>
          <p:cNvPr id="16" name="Text16"/>
          <p:cNvSpPr txBox="1"/>
          <p:nvPr/>
        </p:nvSpPr>
        <p:spPr>
          <a:xfrm>
            <a:off x="6519672" y="32644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Аудит</a:t>
            </a:r>
            <a:endParaRPr lang="ru-RU" sz="1700"/>
          </a:p>
        </p:txBody>
      </p:sp>
      <p:sp>
        <p:nvSpPr>
          <p:cNvPr id="17" name="Text17"/>
          <p:cNvSpPr txBox="1"/>
          <p:nvPr/>
        </p:nvSpPr>
        <p:spPr>
          <a:xfrm>
            <a:off x="6519672" y="37216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Слот, объем проверки и исправления.</a:t>
            </a:r>
            <a:endParaRPr lang="ru-RU" sz="1200"/>
          </a:p>
        </p:txBody>
      </p:sp>
      <p:sp>
        <p:nvSpPr>
          <p:cNvPr id="18" name="Shape18"/>
          <p:cNvSpPr/>
          <p:nvPr/>
        </p:nvSpPr>
        <p:spPr>
          <a:xfrm>
            <a:off x="8641080" y="3063240"/>
            <a:ext cx="2331720" cy="1097280"/>
          </a:xfrm>
          <a:prstGeom prst="roundRect">
            <a:avLst/>
          </a:prstGeom>
          <a:solidFill>
            <a:srgbClr val="111A2E">
              <a:alpha val="93000"/>
            </a:srgbClr>
          </a:solidFill>
          <a:ln w="10000">
            <a:solidFill>
              <a:srgbClr val="263650"/>
            </a:solidFill>
          </a:ln>
        </p:spPr>
      </p:sp>
      <p:sp>
        <p:nvSpPr>
          <p:cNvPr id="19" name="Shape19"/>
          <p:cNvSpPr/>
          <p:nvPr/>
        </p:nvSpPr>
        <p:spPr>
          <a:xfrm>
            <a:off x="8805672" y="3227832"/>
            <a:ext cx="73152" cy="768096"/>
          </a:xfrm>
          <a:prstGeom prst="roundRect">
            <a:avLst/>
          </a:prstGeom>
          <a:solidFill>
            <a:srgbClr val="D7FF3F"/>
          </a:solidFill>
          <a:ln>
            <a:noFill/>
          </a:ln>
        </p:spPr>
      </p:sp>
      <p:sp>
        <p:nvSpPr>
          <p:cNvPr id="20" name="Text20"/>
          <p:cNvSpPr txBox="1"/>
          <p:nvPr/>
        </p:nvSpPr>
        <p:spPr>
          <a:xfrm>
            <a:off x="8988552" y="32644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Запуск</a:t>
            </a:r>
            <a:endParaRPr lang="ru-RU" sz="1700"/>
          </a:p>
        </p:txBody>
      </p:sp>
      <p:sp>
        <p:nvSpPr>
          <p:cNvPr id="21" name="Text21"/>
          <p:cNvSpPr txBox="1"/>
          <p:nvPr/>
        </p:nvSpPr>
        <p:spPr>
          <a:xfrm>
            <a:off x="8988552" y="37216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B9C3D6"/>
                </a:solidFill>
                <a:latin typeface="Aptos"/>
                <a:cs typeface="Aptos"/>
              </a:rPr>
              <a:t>Testnet, security gate и mainnet.</a:t>
            </a:r>
            <a:endParaRPr lang="ru-RU" sz="1200"/>
          </a:p>
        </p:txBody>
      </p:sp>
      <p:sp>
        <p:nvSpPr>
          <p:cNvPr id="22" name="Text22"/>
          <p:cNvSpPr txBox="1"/>
          <p:nvPr/>
        </p:nvSpPr>
        <p:spPr>
          <a:xfrm>
            <a:off x="1143000" y="489204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D7FF3F"/>
                </a:solidFill>
                <a:latin typeface="Aptos"/>
                <a:cs typeface="Aptos"/>
              </a:rPr>
              <a:t>Главный принцип: не ускорять запуск ценой безопасности, выплат и юридической чистоты.</a:t>
            </a:r>
            <a:endParaRPr lang="ru-RU" sz="1800"/>
          </a:p>
        </p:txBody>
      </p:sp>
      <p:sp>
        <p:nvSpPr>
          <p:cNvPr id="23" name="Text23"/>
          <p:cNvSpPr txBox="1"/>
          <p:nvPr/>
        </p:nvSpPr>
        <p:spPr>
          <a:xfrm>
            <a:off x="3977640" y="589788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1200"/>
          </a:p>
        </p:txBody>
      </p:sp>
      <p:sp>
        <p:nvSpPr>
          <p:cNvPr id="24" name="Text24"/>
          <p:cNvSpPr txBox="1"/>
          <p:nvPr/>
        </p:nvSpPr>
        <p:spPr>
          <a:xfrm>
            <a:off x="502920" y="64465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OX / Честно. Прозрачно. Мгновенно.</a:t>
            </a:r>
            <a:endParaRPr lang="ru-RU" sz="800"/>
          </a:p>
        </p:txBody>
      </p:sp>
      <p:sp>
        <p:nvSpPr>
          <p:cNvPr id="25" name="Text2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800">
                <a:solidFill>
                  <a:srgbClr val="7F8AA3"/>
                </a:solidFill>
                <a:latin typeface="Aptos"/>
                <a:cs typeface="Aptos"/>
              </a:rPr>
              <a:t>13</a:t>
            </a:r>
            <a:endParaRPr lang="ru-RU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X">
  <a:themeElements>
    <a:clrScheme name="OX">
      <a:dk1>
        <a:srgbClr val="08111F"/>
      </a:dk1>
      <a:lt1>
        <a:srgbClr val="FFFFFF"/>
      </a:lt1>
      <a:dk2>
        <a:srgbClr val="101C31"/>
      </a:dk2>
      <a:lt2>
        <a:srgbClr val="B9C3D6"/>
      </a:lt2>
      <a:accent1>
        <a:srgbClr val="D7FF3F"/>
      </a:accent1>
      <a:accent2>
        <a:srgbClr val="37D6FF"/>
      </a:accent2>
      <a:accent3>
        <a:srgbClr val="FF7A59"/>
      </a:accent3>
      <a:accent4>
        <a:srgbClr val="7B61FF"/>
      </a:accent4>
      <a:accent5>
        <a:srgbClr val="20E3B2"/>
      </a:accent5>
      <a:accent6>
        <a:srgbClr val="F7C948"/>
      </a:accent6>
      <a:hlink>
        <a:srgbClr val="37D6FF"/>
      </a:hlink>
      <a:folHlink>
        <a:srgbClr val="7B61FF"/>
      </a:folHlink>
    </a:clrScheme>
    <a:fontScheme name="OX">
      <a:majorFont>
        <a:latin typeface="Aptos Display"/>
        <a:ea typeface=""/>
        <a:cs typeface="Aptos"/>
      </a:majorFont>
      <a:minorFont>
        <a:latin typeface="Aptos"/>
        <a:ea typeface=""/>
        <a:cs typeface="Aptos"/>
      </a:minorFont>
    </a:fontScheme>
    <a:fmtScheme name="O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6561</Words>
  <Application>WPS Presentation</Application>
  <PresentationFormat>On-screen Show (16:9)</PresentationFormat>
  <Paragraphs>401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Calibri</vt:lpstr>
      <vt:lpstr>OX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 - презентация проекта</dc:title>
  <dc:creator>Codex</dc:creator>
  <cp:lastModifiedBy>admin</cp:lastModifiedBy>
  <cp:revision>2</cp:revision>
  <dcterms:created xsi:type="dcterms:W3CDTF">2026-06-10T12:15:00Z</dcterms:created>
  <dcterms:modified xsi:type="dcterms:W3CDTF">2026-06-10T17:27:02Z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231D2A97A168467285CDB1C3F18E493E_12</vt:lpwstr>
  </property>
</Properties>
</file>